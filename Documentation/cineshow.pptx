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74" r:id="rId5"/>
    <p:sldId id="276" r:id="rId6"/>
    <p:sldId id="275" r:id="rId7"/>
    <p:sldId id="278" r:id="rId8"/>
    <p:sldId id="277" r:id="rId9"/>
    <p:sldId id="279" r:id="rId10"/>
    <p:sldId id="280" r:id="rId11"/>
    <p:sldId id="281" r:id="rId12"/>
    <p:sldId id="282" r:id="rId13"/>
    <p:sldId id="284" r:id="rId14"/>
    <p:sldId id="283" r:id="rId15"/>
    <p:sldId id="271" r:id="rId16"/>
    <p:sldId id="262" r:id="rId17"/>
    <p:sldId id="263" r:id="rId18"/>
    <p:sldId id="264" r:id="rId19"/>
    <p:sldId id="270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452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3CF82-1B14-4BBF-8396-118708FA29B7}" type="datetimeFigureOut">
              <a:rPr lang="en-US" smtClean="0"/>
              <a:pPr/>
              <a:t>11/10/2014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90CD8-A38C-4BDB-9413-A4AA6EACF3A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3CF82-1B14-4BBF-8396-118708FA29B7}" type="datetimeFigureOut">
              <a:rPr lang="en-US" smtClean="0"/>
              <a:pPr/>
              <a:t>11/10/2014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90CD8-A38C-4BDB-9413-A4AA6EACF3A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3CF82-1B14-4BBF-8396-118708FA29B7}" type="datetimeFigureOut">
              <a:rPr lang="en-US" smtClean="0"/>
              <a:pPr/>
              <a:t>11/10/2014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90CD8-A38C-4BDB-9413-A4AA6EACF3A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3CF82-1B14-4BBF-8396-118708FA29B7}" type="datetimeFigureOut">
              <a:rPr lang="en-US" smtClean="0"/>
              <a:pPr/>
              <a:t>11/10/2014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90CD8-A38C-4BDB-9413-A4AA6EACF3A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3CF82-1B14-4BBF-8396-118708FA29B7}" type="datetimeFigureOut">
              <a:rPr lang="en-US" smtClean="0"/>
              <a:pPr/>
              <a:t>11/10/2014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90CD8-A38C-4BDB-9413-A4AA6EACF3A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3CF82-1B14-4BBF-8396-118708FA29B7}" type="datetimeFigureOut">
              <a:rPr lang="en-US" smtClean="0"/>
              <a:pPr/>
              <a:t>11/10/2014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90CD8-A38C-4BDB-9413-A4AA6EACF3A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3CF82-1B14-4BBF-8396-118708FA29B7}" type="datetimeFigureOut">
              <a:rPr lang="en-US" smtClean="0"/>
              <a:pPr/>
              <a:t>11/10/2014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90CD8-A38C-4BDB-9413-A4AA6EACF3A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3CF82-1B14-4BBF-8396-118708FA29B7}" type="datetimeFigureOut">
              <a:rPr lang="en-US" smtClean="0"/>
              <a:pPr/>
              <a:t>11/10/2014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90CD8-A38C-4BDB-9413-A4AA6EACF3A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3CF82-1B14-4BBF-8396-118708FA29B7}" type="datetimeFigureOut">
              <a:rPr lang="en-US" smtClean="0"/>
              <a:pPr/>
              <a:t>11/10/2014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90CD8-A38C-4BDB-9413-A4AA6EACF3A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3CF82-1B14-4BBF-8396-118708FA29B7}" type="datetimeFigureOut">
              <a:rPr lang="en-US" smtClean="0"/>
              <a:pPr/>
              <a:t>11/10/2014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90CD8-A38C-4BDB-9413-A4AA6EACF3A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F3CF82-1B14-4BBF-8396-118708FA29B7}" type="datetimeFigureOut">
              <a:rPr lang="en-US" smtClean="0"/>
              <a:pPr/>
              <a:t>11/10/2014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90CD8-A38C-4BDB-9413-A4AA6EACF3A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F3CF82-1B14-4BBF-8396-118708FA29B7}" type="datetimeFigureOut">
              <a:rPr lang="en-US" smtClean="0"/>
              <a:pPr/>
              <a:t>11/10/2014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E90CD8-A38C-4BDB-9413-A4AA6EACF3A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jpeg"/><Relationship Id="rId5" Type="http://schemas.openxmlformats.org/officeDocument/2006/relationships/image" Target="../media/image9.png"/><Relationship Id="rId4" Type="http://schemas.openxmlformats.org/officeDocument/2006/relationships/image" Target="../media/image8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0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064" y="1143000"/>
            <a:ext cx="8312510" cy="441959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000"/>
            <a:lum/>
          </a:blip>
          <a:srcRect/>
          <a:stretch>
            <a:fillRect t="-23000" b="-2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2600" y="274638"/>
            <a:ext cx="5334000" cy="868362"/>
          </a:xfrm>
          <a:solidFill>
            <a:srgbClr val="FFFF00"/>
          </a:solidFill>
          <a:ln w="76200">
            <a:solidFill>
              <a:srgbClr val="FF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C00000"/>
                </a:solidFill>
                <a:latin typeface="Garamond" pitchFamily="18" charset="0"/>
              </a:rPr>
              <a:t>INTRODUCTION</a:t>
            </a:r>
            <a:endParaRPr lang="en-US" b="1" dirty="0">
              <a:solidFill>
                <a:srgbClr val="C00000"/>
              </a:solidFill>
              <a:latin typeface="Garamond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i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imed </a:t>
            </a:r>
            <a:r>
              <a:rPr lang="en-US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to </a:t>
            </a:r>
            <a:r>
              <a:rPr lang="en-US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provide movie booking system to customers to purchase the movie ticket easily</a:t>
            </a:r>
            <a:r>
              <a:rPr lang="en-US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en-US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lvl="0"/>
            <a:r>
              <a:rPr lang="en-US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Two </a:t>
            </a:r>
            <a:r>
              <a:rPr lang="en-US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user interface </a:t>
            </a:r>
            <a:r>
              <a:rPr lang="en-US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layers</a:t>
            </a:r>
            <a:r>
              <a:rPr lang="en-US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endParaRPr lang="en-US" dirty="0" smtClean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Guest Interface (CINESHOW -GI):</a:t>
            </a:r>
            <a:r>
              <a:rPr lang="en-US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Customer </a:t>
            </a:r>
            <a:r>
              <a:rPr lang="en-US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can book the movie </a:t>
            </a:r>
            <a:r>
              <a:rPr lang="en-US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ticket, cancel booking.</a:t>
            </a:r>
          </a:p>
          <a:p>
            <a:pPr lvl="1"/>
            <a:r>
              <a:rPr lang="en-US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Movie Management Interface (CINESHOW -MMI):</a:t>
            </a:r>
            <a:r>
              <a:rPr lang="en-US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Admin can add/edit/delete the movie/theater detail and Staff can print the movie ticket. </a:t>
            </a:r>
          </a:p>
          <a:p>
            <a:pPr lvl="0"/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25000" b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304800"/>
            <a:ext cx="5029200" cy="1143000"/>
          </a:xfrm>
          <a:solidFill>
            <a:schemeClr val="accent1">
              <a:lumMod val="20000"/>
              <a:lumOff val="80000"/>
            </a:schemeClr>
          </a:solidFill>
          <a:ln w="76200">
            <a:solidFill>
              <a:srgbClr val="0070C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0070C0"/>
                </a:solidFill>
                <a:latin typeface="Garamond" pitchFamily="18" charset="0"/>
              </a:rPr>
              <a:t>BENEFITS</a:t>
            </a:r>
            <a:endParaRPr lang="en-US" b="1" dirty="0">
              <a:solidFill>
                <a:srgbClr val="0070C0"/>
              </a:solidFill>
              <a:latin typeface="Garamond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Availability</a:t>
            </a:r>
          </a:p>
          <a:p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Enhancement</a:t>
            </a:r>
          </a:p>
          <a:p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Automation</a:t>
            </a:r>
          </a:p>
          <a:p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Accuracy</a:t>
            </a:r>
          </a:p>
          <a:p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User-friendliness</a:t>
            </a:r>
          </a:p>
          <a:p>
            <a:r>
              <a:rPr lang="en-US" b="1" dirty="0" smtClean="0">
                <a:solidFill>
                  <a:schemeClr val="accent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Reusability</a:t>
            </a:r>
          </a:p>
          <a:p>
            <a:r>
              <a:rPr lang="en-US" b="1" dirty="0">
                <a:solidFill>
                  <a:schemeClr val="accent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Security</a:t>
            </a:r>
          </a:p>
        </p:txBody>
      </p:sp>
      <p:pic>
        <p:nvPicPr>
          <p:cNvPr id="6" name="Picture 5" descr="sele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0690021">
            <a:off x="5486400" y="2590800"/>
            <a:ext cx="2971800" cy="29718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 24"/>
          <p:cNvSpPr>
            <a:spLocks noGrp="1"/>
          </p:cNvSpPr>
          <p:nvPr>
            <p:ph type="title"/>
          </p:nvPr>
        </p:nvSpPr>
        <p:spPr>
          <a:solidFill>
            <a:srgbClr val="92D050"/>
          </a:solidFill>
          <a:ln w="57150">
            <a:solidFill>
              <a:srgbClr val="7030A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en-US" b="1" dirty="0" smtClean="0">
                <a:solidFill>
                  <a:srgbClr val="7030A0"/>
                </a:solidFill>
                <a:cs typeface="Aharoni" pitchFamily="2" charset="-79"/>
              </a:rPr>
              <a:t>CONTEXT DIAGRAM</a:t>
            </a:r>
            <a:endParaRPr lang="en-US" b="1" dirty="0">
              <a:solidFill>
                <a:srgbClr val="7030A0"/>
              </a:solidFill>
              <a:cs typeface="Aharoni" pitchFamily="2" charset="-79"/>
            </a:endParaRPr>
          </a:p>
        </p:txBody>
      </p:sp>
      <p:grpSp>
        <p:nvGrpSpPr>
          <p:cNvPr id="26" name="Group 25"/>
          <p:cNvGrpSpPr/>
          <p:nvPr/>
        </p:nvGrpSpPr>
        <p:grpSpPr>
          <a:xfrm>
            <a:off x="228600" y="2133600"/>
            <a:ext cx="8610600" cy="3505200"/>
            <a:chOff x="228600" y="2133600"/>
            <a:chExt cx="8610600" cy="3505200"/>
          </a:xfrm>
        </p:grpSpPr>
        <p:grpSp>
          <p:nvGrpSpPr>
            <p:cNvPr id="1027" name="Group 3"/>
            <p:cNvGrpSpPr>
              <a:grpSpLocks/>
            </p:cNvGrpSpPr>
            <p:nvPr/>
          </p:nvGrpSpPr>
          <p:grpSpPr bwMode="auto">
            <a:xfrm>
              <a:off x="228600" y="2133600"/>
              <a:ext cx="8610600" cy="3505200"/>
              <a:chOff x="519" y="6338"/>
              <a:chExt cx="11332" cy="3525"/>
            </a:xfrm>
          </p:grpSpPr>
          <p:sp>
            <p:nvSpPr>
              <p:cNvPr id="1028" name="Oval 4"/>
              <p:cNvSpPr>
                <a:spLocks noChangeArrowheads="1"/>
              </p:cNvSpPr>
              <p:nvPr/>
            </p:nvSpPr>
            <p:spPr bwMode="auto">
              <a:xfrm>
                <a:off x="4589" y="6983"/>
                <a:ext cx="3060" cy="2880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029" name="Text Box 5"/>
              <p:cNvSpPr txBox="1">
                <a:spLocks noChangeArrowheads="1"/>
              </p:cNvSpPr>
              <p:nvPr/>
            </p:nvSpPr>
            <p:spPr bwMode="auto">
              <a:xfrm>
                <a:off x="5129" y="7825"/>
                <a:ext cx="1800" cy="1260"/>
              </a:xfrm>
              <a:prstGeom prst="rect">
                <a:avLst/>
              </a:prstGeom>
              <a:solidFill>
                <a:srgbClr val="FFFFFF"/>
              </a:solidFill>
              <a:ln w="9525" cap="rnd">
                <a:solidFill>
                  <a:srgbClr val="FFFFFF"/>
                </a:solidFill>
                <a:prstDash val="sysDot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000" b="1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itchFamily="18" charset="0"/>
                    <a:cs typeface="Arial" pitchFamily="34" charset="0"/>
                  </a:rPr>
                  <a:t>Online Movie Ticket Booking System</a:t>
                </a:r>
                <a:endParaRPr kumimoji="0" lang="en-US" sz="18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030" name="Text Box 6"/>
              <p:cNvSpPr txBox="1">
                <a:spLocks noChangeArrowheads="1"/>
              </p:cNvSpPr>
              <p:nvPr/>
            </p:nvSpPr>
            <p:spPr bwMode="auto">
              <a:xfrm>
                <a:off x="1139" y="8499"/>
                <a:ext cx="1980" cy="54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1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  <a:cs typeface="Arial" pitchFamily="34" charset="0"/>
                  </a:rPr>
                  <a:t>Customer Details</a:t>
                </a: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031" name="Text Box 7"/>
              <p:cNvSpPr txBox="1">
                <a:spLocks noChangeArrowheads="1"/>
              </p:cNvSpPr>
              <p:nvPr/>
            </p:nvSpPr>
            <p:spPr bwMode="auto">
              <a:xfrm>
                <a:off x="989" y="7163"/>
                <a:ext cx="1980" cy="436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1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  <a:cs typeface="Arial" pitchFamily="34" charset="0"/>
                  </a:rPr>
                  <a:t>Movie Details</a:t>
                </a: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032" name="Text Box 8"/>
              <p:cNvSpPr txBox="1">
                <a:spLocks noChangeArrowheads="1"/>
              </p:cNvSpPr>
              <p:nvPr/>
            </p:nvSpPr>
            <p:spPr bwMode="auto">
              <a:xfrm>
                <a:off x="1812" y="6338"/>
                <a:ext cx="1980" cy="465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1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  <a:cs typeface="Arial" pitchFamily="34" charset="0"/>
                  </a:rPr>
                  <a:t>Account Details</a:t>
                </a: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033" name="Text Box 9"/>
              <p:cNvSpPr txBox="1">
                <a:spLocks noChangeArrowheads="1"/>
              </p:cNvSpPr>
              <p:nvPr/>
            </p:nvSpPr>
            <p:spPr bwMode="auto">
              <a:xfrm>
                <a:off x="8375" y="6937"/>
                <a:ext cx="1260" cy="842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1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  <a:cs typeface="Arial" pitchFamily="34" charset="0"/>
                  </a:rPr>
                  <a:t>Booking Report</a:t>
                </a: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034" name="Text Box 10"/>
              <p:cNvSpPr txBox="1">
                <a:spLocks noChangeArrowheads="1"/>
              </p:cNvSpPr>
              <p:nvPr/>
            </p:nvSpPr>
            <p:spPr bwMode="auto">
              <a:xfrm>
                <a:off x="8593" y="8319"/>
                <a:ext cx="1980" cy="72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1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  <a:cs typeface="Arial" pitchFamily="34" charset="0"/>
                  </a:rPr>
                  <a:t>Temporary Movie Ticket</a:t>
                </a: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035" name="Text Box 11"/>
              <p:cNvSpPr txBox="1">
                <a:spLocks noChangeArrowheads="1"/>
              </p:cNvSpPr>
              <p:nvPr/>
            </p:nvSpPr>
            <p:spPr bwMode="auto">
              <a:xfrm>
                <a:off x="7655" y="9059"/>
                <a:ext cx="1980" cy="804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100" b="0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  <a:cs typeface="Arial" pitchFamily="34" charset="0"/>
                  </a:rPr>
                  <a:t>Theater Statistics Report</a:t>
                </a:r>
                <a:endParaRPr kumimoji="0" lang="en-US" sz="18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036" name="Text Box 12"/>
              <p:cNvSpPr txBox="1">
                <a:spLocks noChangeArrowheads="1"/>
              </p:cNvSpPr>
              <p:nvPr/>
            </p:nvSpPr>
            <p:spPr bwMode="auto">
              <a:xfrm>
                <a:off x="989" y="7779"/>
                <a:ext cx="1980" cy="54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1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  <a:cs typeface="Arial" pitchFamily="34" charset="0"/>
                  </a:rPr>
                  <a:t>Theater Details</a:t>
                </a: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037" name="Text Box 13"/>
              <p:cNvSpPr txBox="1">
                <a:spLocks noChangeArrowheads="1"/>
              </p:cNvSpPr>
              <p:nvPr/>
            </p:nvSpPr>
            <p:spPr bwMode="auto">
              <a:xfrm>
                <a:off x="8773" y="7599"/>
                <a:ext cx="1800" cy="72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1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  <a:cs typeface="Arial" pitchFamily="34" charset="0"/>
                  </a:rPr>
                  <a:t>Movie Report</a:t>
                </a: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cxnSp>
            <p:nvCxnSpPr>
              <p:cNvPr id="1038" name="AutoShape 14"/>
              <p:cNvCxnSpPr>
                <a:cxnSpLocks noChangeShapeType="1"/>
              </p:cNvCxnSpPr>
              <p:nvPr/>
            </p:nvCxnSpPr>
            <p:spPr bwMode="auto">
              <a:xfrm>
                <a:off x="989" y="9085"/>
                <a:ext cx="3818" cy="1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039" name="AutoShape 15"/>
              <p:cNvCxnSpPr>
                <a:cxnSpLocks noChangeShapeType="1"/>
              </p:cNvCxnSpPr>
              <p:nvPr/>
            </p:nvCxnSpPr>
            <p:spPr bwMode="auto">
              <a:xfrm>
                <a:off x="989" y="7661"/>
                <a:ext cx="3818" cy="1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040" name="AutoShape 16"/>
              <p:cNvCxnSpPr>
                <a:cxnSpLocks noChangeShapeType="1"/>
              </p:cNvCxnSpPr>
              <p:nvPr/>
            </p:nvCxnSpPr>
            <p:spPr bwMode="auto">
              <a:xfrm>
                <a:off x="1640" y="6983"/>
                <a:ext cx="4060" cy="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041" name="AutoShape 17"/>
              <p:cNvCxnSpPr>
                <a:cxnSpLocks noChangeShapeType="1"/>
              </p:cNvCxnSpPr>
              <p:nvPr/>
            </p:nvCxnSpPr>
            <p:spPr bwMode="auto">
              <a:xfrm>
                <a:off x="519" y="8320"/>
                <a:ext cx="4070" cy="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042" name="AutoShape 18"/>
              <p:cNvCxnSpPr>
                <a:cxnSpLocks noChangeShapeType="1"/>
              </p:cNvCxnSpPr>
              <p:nvPr/>
            </p:nvCxnSpPr>
            <p:spPr bwMode="auto">
              <a:xfrm>
                <a:off x="7649" y="8319"/>
                <a:ext cx="4202" cy="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043" name="AutoShape 19"/>
              <p:cNvCxnSpPr>
                <a:cxnSpLocks noChangeShapeType="1"/>
              </p:cNvCxnSpPr>
              <p:nvPr/>
            </p:nvCxnSpPr>
            <p:spPr bwMode="auto">
              <a:xfrm>
                <a:off x="7497" y="9059"/>
                <a:ext cx="3727" cy="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044" name="AutoShape 20"/>
              <p:cNvCxnSpPr>
                <a:cxnSpLocks noChangeShapeType="1"/>
              </p:cNvCxnSpPr>
              <p:nvPr/>
            </p:nvCxnSpPr>
            <p:spPr bwMode="auto">
              <a:xfrm>
                <a:off x="6410" y="6983"/>
                <a:ext cx="3588" cy="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045" name="AutoShape 21"/>
              <p:cNvCxnSpPr>
                <a:cxnSpLocks noChangeShapeType="1"/>
              </p:cNvCxnSpPr>
              <p:nvPr/>
            </p:nvCxnSpPr>
            <p:spPr bwMode="auto">
              <a:xfrm>
                <a:off x="7400" y="7661"/>
                <a:ext cx="3824" cy="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</p:cxnSp>
          <p:cxnSp>
            <p:nvCxnSpPr>
              <p:cNvPr id="1046" name="AutoShape 22"/>
              <p:cNvCxnSpPr>
                <a:cxnSpLocks noChangeShapeType="1"/>
              </p:cNvCxnSpPr>
              <p:nvPr/>
            </p:nvCxnSpPr>
            <p:spPr bwMode="auto">
              <a:xfrm>
                <a:off x="6410" y="9863"/>
                <a:ext cx="3859" cy="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</p:cxnSp>
        </p:grpSp>
        <p:pic>
          <p:nvPicPr>
            <p:cNvPr id="1026" name="Picture 2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6172200" y="4876800"/>
              <a:ext cx="857250" cy="3143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25000" b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20320824">
            <a:off x="609600" y="2819400"/>
            <a:ext cx="8229600" cy="11430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/>
          <a:p>
            <a:r>
              <a:rPr lang="en-US" sz="6600" dirty="0" smtClean="0">
                <a:ln>
                  <a:solidFill>
                    <a:srgbClr val="C00000"/>
                  </a:solidFill>
                </a:ln>
                <a:solidFill>
                  <a:srgbClr val="FFFF00"/>
                </a:solidFill>
                <a:cs typeface="Aharoni" pitchFamily="2" charset="-79"/>
              </a:rPr>
              <a:t>Data Flow Diagram Level I</a:t>
            </a:r>
            <a:endParaRPr lang="en-US" sz="6600" dirty="0">
              <a:ln>
                <a:solidFill>
                  <a:srgbClr val="C00000"/>
                </a:solidFill>
              </a:ln>
              <a:solidFill>
                <a:srgbClr val="FFFF00"/>
              </a:solidFill>
              <a:cs typeface="Aharoni" pitchFamily="2" charset="-79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2050" name="Picture 4"/>
          <p:cNvPicPr>
            <a:picLocks noChangeAspect="1" noChangeArrowheads="1"/>
          </p:cNvPicPr>
          <p:nvPr/>
        </p:nvPicPr>
        <p:blipFill>
          <a:blip r:embed="rId2"/>
          <a:srcRect l="28194" t="24937" r="26666" b="13086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25000" b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20387805">
            <a:off x="533400" y="2895600"/>
            <a:ext cx="8229600" cy="11430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sz="5400" dirty="0" smtClean="0">
                <a:ln>
                  <a:solidFill>
                    <a:srgbClr val="00B0F0"/>
                  </a:solidFill>
                </a:ln>
                <a:solidFill>
                  <a:srgbClr val="0070C0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cs typeface="Aharoni" pitchFamily="2" charset="-79"/>
              </a:rPr>
              <a:t>Data Flow Diagram Level II</a:t>
            </a:r>
            <a:endParaRPr lang="en-US" sz="5400" dirty="0">
              <a:ln>
                <a:solidFill>
                  <a:srgbClr val="00B0F0"/>
                </a:solidFill>
              </a:ln>
              <a:solidFill>
                <a:srgbClr val="0070C0"/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  <a:cs typeface="Aharoni" pitchFamily="2" charset="-79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dobe Garamond Pro" pitchFamily="18" charset="0"/>
              </a:rPr>
              <a:t>Movie and Theater Management</a:t>
            </a:r>
            <a:endParaRPr lang="en-US" dirty="0">
              <a:solidFill>
                <a:srgbClr val="0070C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Adobe Garamond Pro" pitchFamily="18" charset="0"/>
            </a:endParaRPr>
          </a:p>
        </p:txBody>
      </p:sp>
      <p:grpSp>
        <p:nvGrpSpPr>
          <p:cNvPr id="3074" name="Group 2"/>
          <p:cNvGrpSpPr>
            <a:grpSpLocks/>
          </p:cNvGrpSpPr>
          <p:nvPr/>
        </p:nvGrpSpPr>
        <p:grpSpPr bwMode="auto">
          <a:xfrm>
            <a:off x="457200" y="1371600"/>
            <a:ext cx="8153400" cy="5257800"/>
            <a:chOff x="1561" y="3140"/>
            <a:chExt cx="9839" cy="5668"/>
          </a:xfrm>
        </p:grpSpPr>
        <p:grpSp>
          <p:nvGrpSpPr>
            <p:cNvPr id="3075" name="Group 3"/>
            <p:cNvGrpSpPr>
              <a:grpSpLocks/>
            </p:cNvGrpSpPr>
            <p:nvPr/>
          </p:nvGrpSpPr>
          <p:grpSpPr bwMode="auto">
            <a:xfrm>
              <a:off x="3900" y="4470"/>
              <a:ext cx="2205" cy="1860"/>
              <a:chOff x="2415" y="2160"/>
              <a:chExt cx="2205" cy="1860"/>
            </a:xfrm>
          </p:grpSpPr>
          <p:sp>
            <p:nvSpPr>
              <p:cNvPr id="3076" name="Oval 4"/>
              <p:cNvSpPr>
                <a:spLocks noChangeArrowheads="1"/>
              </p:cNvSpPr>
              <p:nvPr/>
            </p:nvSpPr>
            <p:spPr bwMode="auto">
              <a:xfrm>
                <a:off x="2415" y="2160"/>
                <a:ext cx="2205" cy="1860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077" name="Text Box 5"/>
              <p:cNvSpPr txBox="1">
                <a:spLocks noChangeArrowheads="1"/>
              </p:cNvSpPr>
              <p:nvPr/>
            </p:nvSpPr>
            <p:spPr bwMode="auto">
              <a:xfrm>
                <a:off x="2700" y="2712"/>
                <a:ext cx="1648" cy="813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100" b="1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  <a:cs typeface="Arial" pitchFamily="34" charset="0"/>
                  </a:rPr>
                  <a:t>Display Theater Info</a:t>
                </a: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</p:grpSp>
        <p:grpSp>
          <p:nvGrpSpPr>
            <p:cNvPr id="3078" name="Group 6"/>
            <p:cNvGrpSpPr>
              <a:grpSpLocks/>
            </p:cNvGrpSpPr>
            <p:nvPr/>
          </p:nvGrpSpPr>
          <p:grpSpPr bwMode="auto">
            <a:xfrm>
              <a:off x="6315" y="3689"/>
              <a:ext cx="2010" cy="1845"/>
              <a:chOff x="7305" y="2340"/>
              <a:chExt cx="2010" cy="1845"/>
            </a:xfrm>
          </p:grpSpPr>
          <p:sp>
            <p:nvSpPr>
              <p:cNvPr id="3079" name="Oval 7"/>
              <p:cNvSpPr>
                <a:spLocks noChangeArrowheads="1"/>
              </p:cNvSpPr>
              <p:nvPr/>
            </p:nvSpPr>
            <p:spPr bwMode="auto">
              <a:xfrm>
                <a:off x="7305" y="2340"/>
                <a:ext cx="2010" cy="1845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080" name="Text Box 8"/>
              <p:cNvSpPr txBox="1">
                <a:spLocks noChangeArrowheads="1"/>
              </p:cNvSpPr>
              <p:nvPr/>
            </p:nvSpPr>
            <p:spPr bwMode="auto">
              <a:xfrm>
                <a:off x="7472" y="2862"/>
                <a:ext cx="1648" cy="813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100" b="1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  <a:cs typeface="Arial" pitchFamily="34" charset="0"/>
                  </a:rPr>
                  <a:t>Display Movie Info</a:t>
                </a: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</p:grpSp>
        <p:grpSp>
          <p:nvGrpSpPr>
            <p:cNvPr id="3081" name="Group 9"/>
            <p:cNvGrpSpPr>
              <a:grpSpLocks/>
            </p:cNvGrpSpPr>
            <p:nvPr/>
          </p:nvGrpSpPr>
          <p:grpSpPr bwMode="auto">
            <a:xfrm>
              <a:off x="5595" y="6228"/>
              <a:ext cx="2400" cy="2250"/>
              <a:chOff x="4740" y="4290"/>
              <a:chExt cx="2325" cy="2250"/>
            </a:xfrm>
          </p:grpSpPr>
          <p:sp>
            <p:nvSpPr>
              <p:cNvPr id="3082" name="Oval 10"/>
              <p:cNvSpPr>
                <a:spLocks noChangeArrowheads="1"/>
              </p:cNvSpPr>
              <p:nvPr/>
            </p:nvSpPr>
            <p:spPr bwMode="auto">
              <a:xfrm>
                <a:off x="4740" y="4290"/>
                <a:ext cx="2325" cy="2250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083" name="Text Box 11"/>
              <p:cNvSpPr txBox="1">
                <a:spLocks noChangeArrowheads="1"/>
              </p:cNvSpPr>
              <p:nvPr/>
            </p:nvSpPr>
            <p:spPr bwMode="auto">
              <a:xfrm>
                <a:off x="5010" y="4710"/>
                <a:ext cx="1815" cy="1380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100" b="1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  <a:cs typeface="Arial" pitchFamily="34" charset="0"/>
                  </a:rPr>
                  <a:t>Validate Process Movie and Theater Management</a:t>
                </a: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</p:grpSp>
        <p:grpSp>
          <p:nvGrpSpPr>
            <p:cNvPr id="3084" name="Group 12"/>
            <p:cNvGrpSpPr>
              <a:grpSpLocks/>
            </p:cNvGrpSpPr>
            <p:nvPr/>
          </p:nvGrpSpPr>
          <p:grpSpPr bwMode="auto">
            <a:xfrm>
              <a:off x="9045" y="3140"/>
              <a:ext cx="1933" cy="705"/>
              <a:chOff x="2297" y="4710"/>
              <a:chExt cx="1933" cy="705"/>
            </a:xfrm>
          </p:grpSpPr>
          <p:cxnSp>
            <p:nvCxnSpPr>
              <p:cNvPr id="3085" name="AutoShape 13"/>
              <p:cNvCxnSpPr>
                <a:cxnSpLocks noChangeShapeType="1"/>
              </p:cNvCxnSpPr>
              <p:nvPr/>
            </p:nvCxnSpPr>
            <p:spPr bwMode="auto">
              <a:xfrm>
                <a:off x="2340" y="4710"/>
                <a:ext cx="1800" cy="1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3086" name="AutoShape 14"/>
              <p:cNvCxnSpPr>
                <a:cxnSpLocks noChangeShapeType="1"/>
              </p:cNvCxnSpPr>
              <p:nvPr/>
            </p:nvCxnSpPr>
            <p:spPr bwMode="auto">
              <a:xfrm>
                <a:off x="2340" y="5415"/>
                <a:ext cx="1800" cy="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  <p:sp>
            <p:nvSpPr>
              <p:cNvPr id="3087" name="Text Box 15"/>
              <p:cNvSpPr txBox="1">
                <a:spLocks noChangeArrowheads="1"/>
              </p:cNvSpPr>
              <p:nvPr/>
            </p:nvSpPr>
            <p:spPr bwMode="auto">
              <a:xfrm>
                <a:off x="2297" y="4843"/>
                <a:ext cx="1933" cy="435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100" b="1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  <a:cs typeface="Arial" pitchFamily="34" charset="0"/>
                  </a:rPr>
                  <a:t>Movie</a:t>
                </a: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</p:grpSp>
        <p:grpSp>
          <p:nvGrpSpPr>
            <p:cNvPr id="3088" name="Group 16"/>
            <p:cNvGrpSpPr>
              <a:grpSpLocks/>
            </p:cNvGrpSpPr>
            <p:nvPr/>
          </p:nvGrpSpPr>
          <p:grpSpPr bwMode="auto">
            <a:xfrm>
              <a:off x="1918" y="7158"/>
              <a:ext cx="2267" cy="540"/>
              <a:chOff x="5205" y="7425"/>
              <a:chExt cx="2267" cy="540"/>
            </a:xfrm>
          </p:grpSpPr>
          <p:cxnSp>
            <p:nvCxnSpPr>
              <p:cNvPr id="3089" name="AutoShape 17"/>
              <p:cNvCxnSpPr>
                <a:cxnSpLocks noChangeShapeType="1"/>
              </p:cNvCxnSpPr>
              <p:nvPr/>
            </p:nvCxnSpPr>
            <p:spPr bwMode="auto">
              <a:xfrm>
                <a:off x="5205" y="7965"/>
                <a:ext cx="2267" cy="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3090" name="AutoShape 18"/>
              <p:cNvCxnSpPr>
                <a:cxnSpLocks noChangeShapeType="1"/>
              </p:cNvCxnSpPr>
              <p:nvPr/>
            </p:nvCxnSpPr>
            <p:spPr bwMode="auto">
              <a:xfrm>
                <a:off x="5205" y="7425"/>
                <a:ext cx="2267" cy="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  <p:sp>
            <p:nvSpPr>
              <p:cNvPr id="3091" name="Text Box 19"/>
              <p:cNvSpPr txBox="1">
                <a:spLocks noChangeArrowheads="1"/>
              </p:cNvSpPr>
              <p:nvPr/>
            </p:nvSpPr>
            <p:spPr bwMode="auto">
              <a:xfrm>
                <a:off x="5296" y="7513"/>
                <a:ext cx="2084" cy="452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100" b="1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  <a:cs typeface="Arial" pitchFamily="34" charset="0"/>
                  </a:rPr>
                  <a:t>Theater</a:t>
                </a: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</p:grpSp>
        <p:grpSp>
          <p:nvGrpSpPr>
            <p:cNvPr id="3092" name="Group 20"/>
            <p:cNvGrpSpPr>
              <a:grpSpLocks/>
            </p:cNvGrpSpPr>
            <p:nvPr/>
          </p:nvGrpSpPr>
          <p:grpSpPr bwMode="auto">
            <a:xfrm>
              <a:off x="2081" y="3556"/>
              <a:ext cx="1740" cy="705"/>
              <a:chOff x="8805" y="4710"/>
              <a:chExt cx="1740" cy="705"/>
            </a:xfrm>
          </p:grpSpPr>
          <p:sp>
            <p:nvSpPr>
              <p:cNvPr id="3093" name="Rectangle 21"/>
              <p:cNvSpPr>
                <a:spLocks noChangeArrowheads="1"/>
              </p:cNvSpPr>
              <p:nvPr/>
            </p:nvSpPr>
            <p:spPr bwMode="auto">
              <a:xfrm>
                <a:off x="8805" y="4710"/>
                <a:ext cx="1740" cy="705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094" name="Text Box 22"/>
              <p:cNvSpPr txBox="1">
                <a:spLocks noChangeArrowheads="1"/>
              </p:cNvSpPr>
              <p:nvPr/>
            </p:nvSpPr>
            <p:spPr bwMode="auto">
              <a:xfrm>
                <a:off x="8955" y="4843"/>
                <a:ext cx="1453" cy="497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100" b="1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  <a:cs typeface="Arial" pitchFamily="34" charset="0"/>
                  </a:rPr>
                  <a:t>Customer</a:t>
                </a: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</p:grpSp>
        <p:grpSp>
          <p:nvGrpSpPr>
            <p:cNvPr id="3095" name="Group 23"/>
            <p:cNvGrpSpPr>
              <a:grpSpLocks/>
            </p:cNvGrpSpPr>
            <p:nvPr/>
          </p:nvGrpSpPr>
          <p:grpSpPr bwMode="auto">
            <a:xfrm>
              <a:off x="9525" y="7413"/>
              <a:ext cx="1875" cy="615"/>
              <a:chOff x="9045" y="6090"/>
              <a:chExt cx="1363" cy="615"/>
            </a:xfrm>
          </p:grpSpPr>
          <p:sp>
            <p:nvSpPr>
              <p:cNvPr id="3096" name="Rectangle 24"/>
              <p:cNvSpPr>
                <a:spLocks noChangeArrowheads="1"/>
              </p:cNvSpPr>
              <p:nvPr/>
            </p:nvSpPr>
            <p:spPr bwMode="auto">
              <a:xfrm>
                <a:off x="9045" y="6090"/>
                <a:ext cx="1363" cy="615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097" name="Text Box 25"/>
              <p:cNvSpPr txBox="1">
                <a:spLocks noChangeArrowheads="1"/>
              </p:cNvSpPr>
              <p:nvPr/>
            </p:nvSpPr>
            <p:spPr bwMode="auto">
              <a:xfrm>
                <a:off x="9227" y="6200"/>
                <a:ext cx="973" cy="415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100" b="1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  <a:cs typeface="Arial" pitchFamily="34" charset="0"/>
                  </a:rPr>
                  <a:t>Staff</a:t>
                </a: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</p:grpSp>
        <p:cxnSp>
          <p:nvCxnSpPr>
            <p:cNvPr id="3098" name="AutoShape 26"/>
            <p:cNvCxnSpPr>
              <a:cxnSpLocks noChangeShapeType="1"/>
            </p:cNvCxnSpPr>
            <p:nvPr/>
          </p:nvCxnSpPr>
          <p:spPr bwMode="auto">
            <a:xfrm>
              <a:off x="3120" y="5534"/>
              <a:ext cx="701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</p:cxnSp>
        <p:cxnSp>
          <p:nvCxnSpPr>
            <p:cNvPr id="3099" name="AutoShape 27"/>
            <p:cNvCxnSpPr>
              <a:cxnSpLocks noChangeShapeType="1"/>
            </p:cNvCxnSpPr>
            <p:nvPr/>
          </p:nvCxnSpPr>
          <p:spPr bwMode="auto">
            <a:xfrm flipV="1">
              <a:off x="3120" y="4338"/>
              <a:ext cx="0" cy="119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3100" name="AutoShape 28"/>
            <p:cNvCxnSpPr>
              <a:cxnSpLocks noChangeShapeType="1"/>
            </p:cNvCxnSpPr>
            <p:nvPr/>
          </p:nvCxnSpPr>
          <p:spPr bwMode="auto">
            <a:xfrm flipV="1">
              <a:off x="4847" y="6378"/>
              <a:ext cx="0" cy="111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</p:cxnSp>
        <p:cxnSp>
          <p:nvCxnSpPr>
            <p:cNvPr id="3101" name="AutoShape 29"/>
            <p:cNvCxnSpPr>
              <a:cxnSpLocks noChangeShapeType="1"/>
            </p:cNvCxnSpPr>
            <p:nvPr/>
          </p:nvCxnSpPr>
          <p:spPr bwMode="auto">
            <a:xfrm flipH="1">
              <a:off x="4276" y="7488"/>
              <a:ext cx="571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3102" name="AutoShape 30"/>
            <p:cNvCxnSpPr>
              <a:cxnSpLocks noChangeShapeType="1"/>
            </p:cNvCxnSpPr>
            <p:nvPr/>
          </p:nvCxnSpPr>
          <p:spPr bwMode="auto">
            <a:xfrm>
              <a:off x="9898" y="3983"/>
              <a:ext cx="0" cy="76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3103" name="AutoShape 31"/>
            <p:cNvCxnSpPr>
              <a:cxnSpLocks noChangeShapeType="1"/>
            </p:cNvCxnSpPr>
            <p:nvPr/>
          </p:nvCxnSpPr>
          <p:spPr bwMode="auto">
            <a:xfrm flipH="1">
              <a:off x="8400" y="4746"/>
              <a:ext cx="1498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</p:cxnSp>
        <p:cxnSp>
          <p:nvCxnSpPr>
            <p:cNvPr id="3104" name="AutoShape 32"/>
            <p:cNvCxnSpPr>
              <a:cxnSpLocks noChangeShapeType="1"/>
            </p:cNvCxnSpPr>
            <p:nvPr/>
          </p:nvCxnSpPr>
          <p:spPr bwMode="auto">
            <a:xfrm>
              <a:off x="3821" y="3983"/>
              <a:ext cx="2614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</p:cxnSp>
        <p:cxnSp>
          <p:nvCxnSpPr>
            <p:cNvPr id="3105" name="AutoShape 33"/>
            <p:cNvCxnSpPr>
              <a:cxnSpLocks noChangeShapeType="1"/>
            </p:cNvCxnSpPr>
            <p:nvPr/>
          </p:nvCxnSpPr>
          <p:spPr bwMode="auto">
            <a:xfrm flipH="1">
              <a:off x="7995" y="7698"/>
              <a:ext cx="1425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</p:cxnSp>
        <p:cxnSp>
          <p:nvCxnSpPr>
            <p:cNvPr id="3106" name="AutoShape 34"/>
            <p:cNvCxnSpPr>
              <a:cxnSpLocks noChangeShapeType="1"/>
            </p:cNvCxnSpPr>
            <p:nvPr/>
          </p:nvCxnSpPr>
          <p:spPr bwMode="auto">
            <a:xfrm flipV="1">
              <a:off x="3120" y="7834"/>
              <a:ext cx="0" cy="448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</p:cxnSp>
        <p:cxnSp>
          <p:nvCxnSpPr>
            <p:cNvPr id="3107" name="AutoShape 35"/>
            <p:cNvCxnSpPr>
              <a:cxnSpLocks noChangeShapeType="1"/>
            </p:cNvCxnSpPr>
            <p:nvPr/>
          </p:nvCxnSpPr>
          <p:spPr bwMode="auto">
            <a:xfrm>
              <a:off x="3120" y="8283"/>
              <a:ext cx="2713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sp>
          <p:nvSpPr>
            <p:cNvPr id="3108" name="Text Box 36"/>
            <p:cNvSpPr txBox="1">
              <a:spLocks noChangeArrowheads="1"/>
            </p:cNvSpPr>
            <p:nvPr/>
          </p:nvSpPr>
          <p:spPr bwMode="auto">
            <a:xfrm>
              <a:off x="1561" y="4546"/>
              <a:ext cx="1469" cy="72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cs typeface="Arial" pitchFamily="34" charset="0"/>
                </a:rPr>
                <a:t>Retrieve Theater Info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109" name="Text Box 37"/>
            <p:cNvSpPr txBox="1">
              <a:spLocks noChangeArrowheads="1"/>
            </p:cNvSpPr>
            <p:nvPr/>
          </p:nvSpPr>
          <p:spPr bwMode="auto">
            <a:xfrm>
              <a:off x="2926" y="6330"/>
              <a:ext cx="1469" cy="72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cs typeface="Arial" pitchFamily="34" charset="0"/>
                </a:rPr>
                <a:t>Retrieve Theater Info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110" name="Text Box 38"/>
            <p:cNvSpPr txBox="1">
              <a:spLocks noChangeArrowheads="1"/>
            </p:cNvSpPr>
            <p:nvPr/>
          </p:nvSpPr>
          <p:spPr bwMode="auto">
            <a:xfrm>
              <a:off x="3988" y="3430"/>
              <a:ext cx="2447" cy="415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cs typeface="Arial" pitchFamily="34" charset="0"/>
                </a:rPr>
                <a:t>Retrieve Movie Info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111" name="Text Box 39"/>
            <p:cNvSpPr txBox="1">
              <a:spLocks noChangeArrowheads="1"/>
            </p:cNvSpPr>
            <p:nvPr/>
          </p:nvSpPr>
          <p:spPr bwMode="auto">
            <a:xfrm>
              <a:off x="8325" y="3983"/>
              <a:ext cx="1469" cy="64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cs typeface="Arial" pitchFamily="34" charset="0"/>
                </a:rPr>
                <a:t>Retrieve Movie Info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112" name="Text Box 40"/>
            <p:cNvSpPr txBox="1">
              <a:spLocks noChangeArrowheads="1"/>
            </p:cNvSpPr>
            <p:nvPr/>
          </p:nvSpPr>
          <p:spPr bwMode="auto">
            <a:xfrm>
              <a:off x="8188" y="6612"/>
              <a:ext cx="2582" cy="634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cs typeface="Arial" pitchFamily="34" charset="0"/>
                </a:rPr>
                <a:t>Enter Movie and Theater Info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3113" name="AutoShape 41"/>
            <p:cNvCxnSpPr>
              <a:cxnSpLocks noChangeShapeType="1"/>
            </p:cNvCxnSpPr>
            <p:nvPr/>
          </p:nvCxnSpPr>
          <p:spPr bwMode="auto">
            <a:xfrm>
              <a:off x="7620" y="6483"/>
              <a:ext cx="2970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3114" name="AutoShape 42"/>
            <p:cNvCxnSpPr>
              <a:cxnSpLocks noChangeShapeType="1"/>
            </p:cNvCxnSpPr>
            <p:nvPr/>
          </p:nvCxnSpPr>
          <p:spPr bwMode="auto">
            <a:xfrm flipV="1">
              <a:off x="10590" y="3983"/>
              <a:ext cx="1" cy="250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</p:cxnSp>
        <p:sp>
          <p:nvSpPr>
            <p:cNvPr id="3115" name="Text Box 43"/>
            <p:cNvSpPr txBox="1">
              <a:spLocks noChangeArrowheads="1"/>
            </p:cNvSpPr>
            <p:nvPr/>
          </p:nvSpPr>
          <p:spPr bwMode="auto">
            <a:xfrm>
              <a:off x="3378" y="8373"/>
              <a:ext cx="2352" cy="435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cs typeface="Arial" pitchFamily="34" charset="0"/>
                </a:rPr>
                <a:t>Update Theater Info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116" name="Text Box 44"/>
            <p:cNvSpPr txBox="1">
              <a:spLocks noChangeArrowheads="1"/>
            </p:cNvSpPr>
            <p:nvPr/>
          </p:nvSpPr>
          <p:spPr bwMode="auto">
            <a:xfrm>
              <a:off x="8130" y="5905"/>
              <a:ext cx="2023" cy="425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cs typeface="Arial" pitchFamily="34" charset="0"/>
                </a:rPr>
                <a:t>Update Movie Info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dobe Garamond Pro" pitchFamily="18" charset="0"/>
              </a:rPr>
              <a:t>Login</a:t>
            </a:r>
            <a:endParaRPr lang="en-US" dirty="0">
              <a:solidFill>
                <a:srgbClr val="0070C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Adobe Garamond Pro" pitchFamily="18" charset="0"/>
            </a:endParaRPr>
          </a:p>
        </p:txBody>
      </p:sp>
      <p:grpSp>
        <p:nvGrpSpPr>
          <p:cNvPr id="4098" name="Group 2"/>
          <p:cNvGrpSpPr>
            <a:grpSpLocks/>
          </p:cNvGrpSpPr>
          <p:nvPr/>
        </p:nvGrpSpPr>
        <p:grpSpPr bwMode="auto">
          <a:xfrm>
            <a:off x="685800" y="1905000"/>
            <a:ext cx="7772400" cy="4038600"/>
            <a:chOff x="2231" y="10470"/>
            <a:chExt cx="8747" cy="3705"/>
          </a:xfrm>
        </p:grpSpPr>
        <p:grpSp>
          <p:nvGrpSpPr>
            <p:cNvPr id="4099" name="Group 3"/>
            <p:cNvGrpSpPr>
              <a:grpSpLocks/>
            </p:cNvGrpSpPr>
            <p:nvPr/>
          </p:nvGrpSpPr>
          <p:grpSpPr bwMode="auto">
            <a:xfrm>
              <a:off x="5771" y="11775"/>
              <a:ext cx="1679" cy="1485"/>
              <a:chOff x="5385" y="11370"/>
              <a:chExt cx="1679" cy="1485"/>
            </a:xfrm>
          </p:grpSpPr>
          <p:sp>
            <p:nvSpPr>
              <p:cNvPr id="4100" name="Oval 4"/>
              <p:cNvSpPr>
                <a:spLocks noChangeArrowheads="1"/>
              </p:cNvSpPr>
              <p:nvPr/>
            </p:nvSpPr>
            <p:spPr bwMode="auto">
              <a:xfrm>
                <a:off x="5385" y="11370"/>
                <a:ext cx="1679" cy="1485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101" name="Text Box 5"/>
              <p:cNvSpPr txBox="1">
                <a:spLocks noChangeArrowheads="1"/>
              </p:cNvSpPr>
              <p:nvPr/>
            </p:nvSpPr>
            <p:spPr bwMode="auto">
              <a:xfrm>
                <a:off x="5595" y="11848"/>
                <a:ext cx="1350" cy="512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100" b="1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  <a:cs typeface="Arial" pitchFamily="34" charset="0"/>
                  </a:rPr>
                  <a:t>Login</a:t>
                </a: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</p:grpSp>
        <p:grpSp>
          <p:nvGrpSpPr>
            <p:cNvPr id="4102" name="Group 6"/>
            <p:cNvGrpSpPr>
              <a:grpSpLocks/>
            </p:cNvGrpSpPr>
            <p:nvPr/>
          </p:nvGrpSpPr>
          <p:grpSpPr bwMode="auto">
            <a:xfrm>
              <a:off x="8984" y="11190"/>
              <a:ext cx="1994" cy="885"/>
              <a:chOff x="8597" y="11475"/>
              <a:chExt cx="1994" cy="885"/>
            </a:xfrm>
          </p:grpSpPr>
          <p:cxnSp>
            <p:nvCxnSpPr>
              <p:cNvPr id="4103" name="AutoShape 7"/>
              <p:cNvCxnSpPr>
                <a:cxnSpLocks noChangeShapeType="1"/>
              </p:cNvCxnSpPr>
              <p:nvPr/>
            </p:nvCxnSpPr>
            <p:spPr bwMode="auto">
              <a:xfrm>
                <a:off x="8597" y="11475"/>
                <a:ext cx="1993" cy="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4104" name="AutoShape 8"/>
              <p:cNvCxnSpPr>
                <a:cxnSpLocks noChangeShapeType="1"/>
              </p:cNvCxnSpPr>
              <p:nvPr/>
            </p:nvCxnSpPr>
            <p:spPr bwMode="auto">
              <a:xfrm>
                <a:off x="8598" y="12360"/>
                <a:ext cx="1993" cy="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  <p:sp>
            <p:nvSpPr>
              <p:cNvPr id="4105" name="Text Box 9"/>
              <p:cNvSpPr txBox="1">
                <a:spLocks noChangeArrowheads="1"/>
              </p:cNvSpPr>
              <p:nvPr/>
            </p:nvSpPr>
            <p:spPr bwMode="auto">
              <a:xfrm>
                <a:off x="8748" y="11563"/>
                <a:ext cx="1767" cy="722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100" b="1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  <a:cs typeface="Arial" pitchFamily="34" charset="0"/>
                  </a:rPr>
                  <a:t>User </a:t>
                </a: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</p:grpSp>
        <p:grpSp>
          <p:nvGrpSpPr>
            <p:cNvPr id="4106" name="Group 10"/>
            <p:cNvGrpSpPr>
              <a:grpSpLocks/>
            </p:cNvGrpSpPr>
            <p:nvPr/>
          </p:nvGrpSpPr>
          <p:grpSpPr bwMode="auto">
            <a:xfrm>
              <a:off x="2467" y="10905"/>
              <a:ext cx="1605" cy="630"/>
              <a:chOff x="1918" y="10740"/>
              <a:chExt cx="1605" cy="630"/>
            </a:xfrm>
          </p:grpSpPr>
          <p:sp>
            <p:nvSpPr>
              <p:cNvPr id="4107" name="Rectangle 11"/>
              <p:cNvSpPr>
                <a:spLocks noChangeArrowheads="1"/>
              </p:cNvSpPr>
              <p:nvPr/>
            </p:nvSpPr>
            <p:spPr bwMode="auto">
              <a:xfrm>
                <a:off x="1918" y="10740"/>
                <a:ext cx="1605" cy="63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108" name="Text Box 12"/>
              <p:cNvSpPr txBox="1">
                <a:spLocks noChangeArrowheads="1"/>
              </p:cNvSpPr>
              <p:nvPr/>
            </p:nvSpPr>
            <p:spPr bwMode="auto">
              <a:xfrm>
                <a:off x="2081" y="10843"/>
                <a:ext cx="1197" cy="422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100" b="1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  <a:cs typeface="Arial" pitchFamily="34" charset="0"/>
                  </a:rPr>
                  <a:t>Admin</a:t>
                </a: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</p:grpSp>
        <p:grpSp>
          <p:nvGrpSpPr>
            <p:cNvPr id="4109" name="Group 13"/>
            <p:cNvGrpSpPr>
              <a:grpSpLocks/>
            </p:cNvGrpSpPr>
            <p:nvPr/>
          </p:nvGrpSpPr>
          <p:grpSpPr bwMode="auto">
            <a:xfrm>
              <a:off x="2231" y="12135"/>
              <a:ext cx="1696" cy="705"/>
              <a:chOff x="2081" y="12030"/>
              <a:chExt cx="1297" cy="705"/>
            </a:xfrm>
          </p:grpSpPr>
          <p:sp>
            <p:nvSpPr>
              <p:cNvPr id="4110" name="Rectangle 14"/>
              <p:cNvSpPr>
                <a:spLocks noChangeArrowheads="1"/>
              </p:cNvSpPr>
              <p:nvPr/>
            </p:nvSpPr>
            <p:spPr bwMode="auto">
              <a:xfrm>
                <a:off x="2081" y="12030"/>
                <a:ext cx="1297" cy="705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111" name="Text Box 15"/>
              <p:cNvSpPr txBox="1">
                <a:spLocks noChangeArrowheads="1"/>
              </p:cNvSpPr>
              <p:nvPr/>
            </p:nvSpPr>
            <p:spPr bwMode="auto">
              <a:xfrm>
                <a:off x="2231" y="12161"/>
                <a:ext cx="1050" cy="439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100" b="1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  <a:cs typeface="Arial" pitchFamily="34" charset="0"/>
                  </a:rPr>
                  <a:t>Staff</a:t>
                </a:r>
                <a:endParaRPr kumimoji="0" lang="en-US" sz="11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itchFamily="18" charset="0"/>
                  <a:cs typeface="Arial" pitchFamily="34" charset="0"/>
                </a:endParaRPr>
              </a:p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</p:grpSp>
        <p:grpSp>
          <p:nvGrpSpPr>
            <p:cNvPr id="4112" name="Group 16"/>
            <p:cNvGrpSpPr>
              <a:grpSpLocks/>
            </p:cNvGrpSpPr>
            <p:nvPr/>
          </p:nvGrpSpPr>
          <p:grpSpPr bwMode="auto">
            <a:xfrm>
              <a:off x="2395" y="13515"/>
              <a:ext cx="1891" cy="660"/>
              <a:chOff x="2009" y="13110"/>
              <a:chExt cx="1891" cy="660"/>
            </a:xfrm>
          </p:grpSpPr>
          <p:sp>
            <p:nvSpPr>
              <p:cNvPr id="4113" name="Rectangle 17"/>
              <p:cNvSpPr>
                <a:spLocks noChangeArrowheads="1"/>
              </p:cNvSpPr>
              <p:nvPr/>
            </p:nvSpPr>
            <p:spPr bwMode="auto">
              <a:xfrm>
                <a:off x="2009" y="13110"/>
                <a:ext cx="1891" cy="66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4114" name="Text Box 18"/>
              <p:cNvSpPr txBox="1">
                <a:spLocks noChangeArrowheads="1"/>
              </p:cNvSpPr>
              <p:nvPr/>
            </p:nvSpPr>
            <p:spPr bwMode="auto">
              <a:xfrm>
                <a:off x="2215" y="13215"/>
                <a:ext cx="1469" cy="450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100" b="1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  <a:cs typeface="Arial" pitchFamily="34" charset="0"/>
                  </a:rPr>
                  <a:t>Customer</a:t>
                </a: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</p:grpSp>
        <p:cxnSp>
          <p:nvCxnSpPr>
            <p:cNvPr id="4115" name="AutoShape 19"/>
            <p:cNvCxnSpPr>
              <a:cxnSpLocks noChangeShapeType="1"/>
            </p:cNvCxnSpPr>
            <p:nvPr/>
          </p:nvCxnSpPr>
          <p:spPr bwMode="auto">
            <a:xfrm>
              <a:off x="4162" y="11190"/>
              <a:ext cx="2329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4116" name="AutoShape 20"/>
            <p:cNvCxnSpPr>
              <a:cxnSpLocks noChangeShapeType="1"/>
            </p:cNvCxnSpPr>
            <p:nvPr/>
          </p:nvCxnSpPr>
          <p:spPr bwMode="auto">
            <a:xfrm>
              <a:off x="6491" y="11190"/>
              <a:ext cx="0" cy="49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</p:cxnSp>
        <p:cxnSp>
          <p:nvCxnSpPr>
            <p:cNvPr id="4117" name="AutoShape 21"/>
            <p:cNvCxnSpPr>
              <a:cxnSpLocks noChangeShapeType="1"/>
            </p:cNvCxnSpPr>
            <p:nvPr/>
          </p:nvCxnSpPr>
          <p:spPr bwMode="auto">
            <a:xfrm>
              <a:off x="4374" y="13845"/>
              <a:ext cx="2117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4118" name="AutoShape 22"/>
            <p:cNvCxnSpPr>
              <a:cxnSpLocks noChangeShapeType="1"/>
            </p:cNvCxnSpPr>
            <p:nvPr/>
          </p:nvCxnSpPr>
          <p:spPr bwMode="auto">
            <a:xfrm flipV="1">
              <a:off x="6491" y="13395"/>
              <a:ext cx="0" cy="45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</p:cxnSp>
        <p:cxnSp>
          <p:nvCxnSpPr>
            <p:cNvPr id="4119" name="AutoShape 23"/>
            <p:cNvCxnSpPr>
              <a:cxnSpLocks noChangeShapeType="1"/>
            </p:cNvCxnSpPr>
            <p:nvPr/>
          </p:nvCxnSpPr>
          <p:spPr bwMode="auto">
            <a:xfrm>
              <a:off x="4070" y="12465"/>
              <a:ext cx="1551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</p:cxnSp>
        <p:cxnSp>
          <p:nvCxnSpPr>
            <p:cNvPr id="4120" name="AutoShape 24"/>
            <p:cNvCxnSpPr>
              <a:cxnSpLocks noChangeShapeType="1"/>
            </p:cNvCxnSpPr>
            <p:nvPr/>
          </p:nvCxnSpPr>
          <p:spPr bwMode="auto">
            <a:xfrm>
              <a:off x="9911" y="12253"/>
              <a:ext cx="0" cy="81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4121" name="AutoShape 25"/>
            <p:cNvCxnSpPr>
              <a:cxnSpLocks noChangeShapeType="1"/>
            </p:cNvCxnSpPr>
            <p:nvPr/>
          </p:nvCxnSpPr>
          <p:spPr bwMode="auto">
            <a:xfrm flipH="1">
              <a:off x="7331" y="13063"/>
              <a:ext cx="2580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</p:cxnSp>
        <p:cxnSp>
          <p:nvCxnSpPr>
            <p:cNvPr id="4122" name="AutoShape 26"/>
            <p:cNvCxnSpPr>
              <a:cxnSpLocks noChangeShapeType="1"/>
            </p:cNvCxnSpPr>
            <p:nvPr/>
          </p:nvCxnSpPr>
          <p:spPr bwMode="auto">
            <a:xfrm flipV="1">
              <a:off x="7061" y="11535"/>
              <a:ext cx="0" cy="24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4123" name="AutoShape 27"/>
            <p:cNvCxnSpPr>
              <a:cxnSpLocks noChangeShapeType="1"/>
            </p:cNvCxnSpPr>
            <p:nvPr/>
          </p:nvCxnSpPr>
          <p:spPr bwMode="auto">
            <a:xfrm>
              <a:off x="7061" y="11535"/>
              <a:ext cx="1815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</p:cxnSp>
        <p:sp>
          <p:nvSpPr>
            <p:cNvPr id="4124" name="Text Box 28"/>
            <p:cNvSpPr txBox="1">
              <a:spLocks noChangeArrowheads="1"/>
            </p:cNvSpPr>
            <p:nvPr/>
          </p:nvSpPr>
          <p:spPr bwMode="auto">
            <a:xfrm>
              <a:off x="4479" y="10470"/>
              <a:ext cx="1739" cy="615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cs typeface="Arial" pitchFamily="34" charset="0"/>
                </a:rPr>
                <a:t>Login Id, Password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125" name="Text Box 29"/>
            <p:cNvSpPr txBox="1">
              <a:spLocks noChangeArrowheads="1"/>
            </p:cNvSpPr>
            <p:nvPr/>
          </p:nvSpPr>
          <p:spPr bwMode="auto">
            <a:xfrm>
              <a:off x="4032" y="11685"/>
              <a:ext cx="1739" cy="615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cs typeface="Arial" pitchFamily="34" charset="0"/>
                </a:rPr>
                <a:t>Login Id, Password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126" name="Text Box 30"/>
            <p:cNvSpPr txBox="1">
              <a:spLocks noChangeArrowheads="1"/>
            </p:cNvSpPr>
            <p:nvPr/>
          </p:nvSpPr>
          <p:spPr bwMode="auto">
            <a:xfrm>
              <a:off x="4377" y="13153"/>
              <a:ext cx="1739" cy="615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cs typeface="Arial" pitchFamily="34" charset="0"/>
                </a:rPr>
                <a:t>Login Id, Password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127" name="Text Box 31"/>
            <p:cNvSpPr txBox="1">
              <a:spLocks noChangeArrowheads="1"/>
            </p:cNvSpPr>
            <p:nvPr/>
          </p:nvSpPr>
          <p:spPr bwMode="auto">
            <a:xfrm>
              <a:off x="6972" y="10470"/>
              <a:ext cx="1904" cy="96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cs typeface="Arial" pitchFamily="34" charset="0"/>
                </a:rPr>
                <a:t>Update/Delete/ Enter User Account Info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128" name="Text Box 32"/>
            <p:cNvSpPr txBox="1">
              <a:spLocks noChangeArrowheads="1"/>
            </p:cNvSpPr>
            <p:nvPr/>
          </p:nvSpPr>
          <p:spPr bwMode="auto">
            <a:xfrm>
              <a:off x="7575" y="12300"/>
              <a:ext cx="1739" cy="615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cs typeface="Arial" pitchFamily="34" charset="0"/>
                </a:rPr>
                <a:t>Retrieve User Account Info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dobe Garamond Pro" pitchFamily="18" charset="0"/>
              </a:rPr>
              <a:t>User Account Management</a:t>
            </a:r>
            <a:endParaRPr lang="en-US" dirty="0">
              <a:solidFill>
                <a:srgbClr val="0070C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Adobe Garamond Pro" pitchFamily="18" charset="0"/>
            </a:endParaRPr>
          </a:p>
        </p:txBody>
      </p:sp>
      <p:grpSp>
        <p:nvGrpSpPr>
          <p:cNvPr id="5122" name="Group 2"/>
          <p:cNvGrpSpPr>
            <a:grpSpLocks/>
          </p:cNvGrpSpPr>
          <p:nvPr/>
        </p:nvGrpSpPr>
        <p:grpSpPr bwMode="auto">
          <a:xfrm>
            <a:off x="609600" y="1828800"/>
            <a:ext cx="7924800" cy="4419600"/>
            <a:chOff x="1335" y="9135"/>
            <a:chExt cx="8762" cy="4485"/>
          </a:xfrm>
        </p:grpSpPr>
        <p:grpSp>
          <p:nvGrpSpPr>
            <p:cNvPr id="5123" name="Group 3"/>
            <p:cNvGrpSpPr>
              <a:grpSpLocks/>
            </p:cNvGrpSpPr>
            <p:nvPr/>
          </p:nvGrpSpPr>
          <p:grpSpPr bwMode="auto">
            <a:xfrm>
              <a:off x="5715" y="11505"/>
              <a:ext cx="2280" cy="2115"/>
              <a:chOff x="7275" y="9570"/>
              <a:chExt cx="2280" cy="2115"/>
            </a:xfrm>
          </p:grpSpPr>
          <p:sp>
            <p:nvSpPr>
              <p:cNvPr id="5124" name="Oval 4"/>
              <p:cNvSpPr>
                <a:spLocks noChangeArrowheads="1"/>
              </p:cNvSpPr>
              <p:nvPr/>
            </p:nvSpPr>
            <p:spPr bwMode="auto">
              <a:xfrm>
                <a:off x="7275" y="9570"/>
                <a:ext cx="2280" cy="2115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125" name="Text Box 5"/>
              <p:cNvSpPr txBox="1">
                <a:spLocks noChangeArrowheads="1"/>
              </p:cNvSpPr>
              <p:nvPr/>
            </p:nvSpPr>
            <p:spPr bwMode="auto">
              <a:xfrm>
                <a:off x="7470" y="10155"/>
                <a:ext cx="1830" cy="1050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100" b="1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  <a:cs typeface="Arial" pitchFamily="34" charset="0"/>
                  </a:rPr>
                  <a:t>Validate User Account Info Management</a:t>
                </a: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</p:grpSp>
        <p:grpSp>
          <p:nvGrpSpPr>
            <p:cNvPr id="5126" name="Group 6"/>
            <p:cNvGrpSpPr>
              <a:grpSpLocks/>
            </p:cNvGrpSpPr>
            <p:nvPr/>
          </p:nvGrpSpPr>
          <p:grpSpPr bwMode="auto">
            <a:xfrm>
              <a:off x="3928" y="9135"/>
              <a:ext cx="2207" cy="2085"/>
              <a:chOff x="3328" y="9915"/>
              <a:chExt cx="2207" cy="2085"/>
            </a:xfrm>
          </p:grpSpPr>
          <p:sp>
            <p:nvSpPr>
              <p:cNvPr id="5127" name="Oval 7"/>
              <p:cNvSpPr>
                <a:spLocks noChangeArrowheads="1"/>
              </p:cNvSpPr>
              <p:nvPr/>
            </p:nvSpPr>
            <p:spPr bwMode="auto">
              <a:xfrm>
                <a:off x="3328" y="9915"/>
                <a:ext cx="2207" cy="2085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128" name="Text Box 8"/>
              <p:cNvSpPr txBox="1">
                <a:spLocks noChangeArrowheads="1"/>
              </p:cNvSpPr>
              <p:nvPr/>
            </p:nvSpPr>
            <p:spPr bwMode="auto">
              <a:xfrm>
                <a:off x="3540" y="10560"/>
                <a:ext cx="1830" cy="855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100" b="1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  <a:cs typeface="Arial" pitchFamily="34" charset="0"/>
                  </a:rPr>
                  <a:t>Display User Account Info</a:t>
                </a: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</p:grpSp>
        <p:grpSp>
          <p:nvGrpSpPr>
            <p:cNvPr id="5129" name="Group 9"/>
            <p:cNvGrpSpPr>
              <a:grpSpLocks/>
            </p:cNvGrpSpPr>
            <p:nvPr/>
          </p:nvGrpSpPr>
          <p:grpSpPr bwMode="auto">
            <a:xfrm>
              <a:off x="2220" y="11790"/>
              <a:ext cx="1558" cy="675"/>
              <a:chOff x="1770" y="9135"/>
              <a:chExt cx="1558" cy="675"/>
            </a:xfrm>
          </p:grpSpPr>
          <p:sp>
            <p:nvSpPr>
              <p:cNvPr id="5130" name="Rectangle 10"/>
              <p:cNvSpPr>
                <a:spLocks noChangeArrowheads="1"/>
              </p:cNvSpPr>
              <p:nvPr/>
            </p:nvSpPr>
            <p:spPr bwMode="auto">
              <a:xfrm>
                <a:off x="1770" y="9135"/>
                <a:ext cx="1558" cy="675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5131" name="Text Box 11"/>
              <p:cNvSpPr txBox="1">
                <a:spLocks noChangeArrowheads="1"/>
              </p:cNvSpPr>
              <p:nvPr/>
            </p:nvSpPr>
            <p:spPr bwMode="auto">
              <a:xfrm>
                <a:off x="1845" y="9240"/>
                <a:ext cx="1350" cy="465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100" b="1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  <a:cs typeface="Arial" pitchFamily="34" charset="0"/>
                  </a:rPr>
                  <a:t>Admin</a:t>
                </a: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</p:grpSp>
        <p:grpSp>
          <p:nvGrpSpPr>
            <p:cNvPr id="5132" name="Group 12"/>
            <p:cNvGrpSpPr>
              <a:grpSpLocks/>
            </p:cNvGrpSpPr>
            <p:nvPr/>
          </p:nvGrpSpPr>
          <p:grpSpPr bwMode="auto">
            <a:xfrm>
              <a:off x="7952" y="10125"/>
              <a:ext cx="2145" cy="900"/>
              <a:chOff x="7815" y="12345"/>
              <a:chExt cx="2145" cy="900"/>
            </a:xfrm>
          </p:grpSpPr>
          <p:cxnSp>
            <p:nvCxnSpPr>
              <p:cNvPr id="5133" name="AutoShape 13"/>
              <p:cNvCxnSpPr>
                <a:cxnSpLocks noChangeShapeType="1"/>
              </p:cNvCxnSpPr>
              <p:nvPr/>
            </p:nvCxnSpPr>
            <p:spPr bwMode="auto">
              <a:xfrm>
                <a:off x="7815" y="12345"/>
                <a:ext cx="2145" cy="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5134" name="AutoShape 14"/>
              <p:cNvCxnSpPr>
                <a:cxnSpLocks noChangeShapeType="1"/>
              </p:cNvCxnSpPr>
              <p:nvPr/>
            </p:nvCxnSpPr>
            <p:spPr bwMode="auto">
              <a:xfrm>
                <a:off x="7815" y="13245"/>
                <a:ext cx="2145" cy="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  <p:sp>
            <p:nvSpPr>
              <p:cNvPr id="5135" name="Text Box 15"/>
              <p:cNvSpPr txBox="1">
                <a:spLocks noChangeArrowheads="1"/>
              </p:cNvSpPr>
              <p:nvPr/>
            </p:nvSpPr>
            <p:spPr bwMode="auto">
              <a:xfrm>
                <a:off x="7933" y="12435"/>
                <a:ext cx="1740" cy="720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100" b="1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  <a:cs typeface="Arial" pitchFamily="34" charset="0"/>
                  </a:rPr>
                  <a:t>User Account Info Details</a:t>
                </a: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</p:grpSp>
        <p:cxnSp>
          <p:nvCxnSpPr>
            <p:cNvPr id="5136" name="AutoShape 16"/>
            <p:cNvCxnSpPr>
              <a:cxnSpLocks noChangeShapeType="1"/>
            </p:cNvCxnSpPr>
            <p:nvPr/>
          </p:nvCxnSpPr>
          <p:spPr bwMode="auto">
            <a:xfrm flipV="1">
              <a:off x="3045" y="9675"/>
              <a:ext cx="0" cy="199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5137" name="AutoShape 17"/>
            <p:cNvCxnSpPr>
              <a:cxnSpLocks noChangeShapeType="1"/>
            </p:cNvCxnSpPr>
            <p:nvPr/>
          </p:nvCxnSpPr>
          <p:spPr bwMode="auto">
            <a:xfrm>
              <a:off x="3045" y="9675"/>
              <a:ext cx="883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</p:cxnSp>
        <p:cxnSp>
          <p:nvCxnSpPr>
            <p:cNvPr id="5138" name="AutoShape 18"/>
            <p:cNvCxnSpPr>
              <a:cxnSpLocks noChangeShapeType="1"/>
            </p:cNvCxnSpPr>
            <p:nvPr/>
          </p:nvCxnSpPr>
          <p:spPr bwMode="auto">
            <a:xfrm>
              <a:off x="2746" y="12540"/>
              <a:ext cx="0" cy="72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5139" name="AutoShape 19"/>
            <p:cNvCxnSpPr>
              <a:cxnSpLocks noChangeShapeType="1"/>
            </p:cNvCxnSpPr>
            <p:nvPr/>
          </p:nvCxnSpPr>
          <p:spPr bwMode="auto">
            <a:xfrm>
              <a:off x="2746" y="13260"/>
              <a:ext cx="2969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</p:cxnSp>
        <p:cxnSp>
          <p:nvCxnSpPr>
            <p:cNvPr id="5140" name="AutoShape 20"/>
            <p:cNvCxnSpPr>
              <a:cxnSpLocks noChangeShapeType="1"/>
            </p:cNvCxnSpPr>
            <p:nvPr/>
          </p:nvCxnSpPr>
          <p:spPr bwMode="auto">
            <a:xfrm flipH="1" flipV="1">
              <a:off x="8715" y="9481"/>
              <a:ext cx="1" cy="56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5141" name="AutoShape 21"/>
            <p:cNvCxnSpPr>
              <a:cxnSpLocks noChangeShapeType="1"/>
            </p:cNvCxnSpPr>
            <p:nvPr/>
          </p:nvCxnSpPr>
          <p:spPr bwMode="auto">
            <a:xfrm flipH="1">
              <a:off x="5986" y="9480"/>
              <a:ext cx="2730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</p:cxnSp>
        <p:cxnSp>
          <p:nvCxnSpPr>
            <p:cNvPr id="5142" name="AutoShape 22"/>
            <p:cNvCxnSpPr>
              <a:cxnSpLocks noChangeShapeType="1"/>
            </p:cNvCxnSpPr>
            <p:nvPr/>
          </p:nvCxnSpPr>
          <p:spPr bwMode="auto">
            <a:xfrm flipV="1">
              <a:off x="9150" y="11220"/>
              <a:ext cx="0" cy="144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</p:cxnSp>
        <p:cxnSp>
          <p:nvCxnSpPr>
            <p:cNvPr id="5143" name="AutoShape 23"/>
            <p:cNvCxnSpPr>
              <a:cxnSpLocks noChangeShapeType="1"/>
            </p:cNvCxnSpPr>
            <p:nvPr/>
          </p:nvCxnSpPr>
          <p:spPr bwMode="auto">
            <a:xfrm flipH="1">
              <a:off x="8085" y="12660"/>
              <a:ext cx="1065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sp>
          <p:nvSpPr>
            <p:cNvPr id="5144" name="Text Box 24"/>
            <p:cNvSpPr txBox="1">
              <a:spLocks noChangeArrowheads="1"/>
            </p:cNvSpPr>
            <p:nvPr/>
          </p:nvSpPr>
          <p:spPr bwMode="auto">
            <a:xfrm>
              <a:off x="1335" y="10320"/>
              <a:ext cx="1605" cy="705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cs typeface="Arial" pitchFamily="34" charset="0"/>
                </a:rPr>
                <a:t>View User Account Info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145" name="Text Box 25"/>
            <p:cNvSpPr txBox="1">
              <a:spLocks noChangeArrowheads="1"/>
            </p:cNvSpPr>
            <p:nvPr/>
          </p:nvSpPr>
          <p:spPr bwMode="auto">
            <a:xfrm>
              <a:off x="3928" y="12465"/>
              <a:ext cx="1605" cy="705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cs typeface="Arial" pitchFamily="34" charset="0"/>
                </a:rPr>
                <a:t>Enter User Account Info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146" name="Text Box 26"/>
            <p:cNvSpPr txBox="1">
              <a:spLocks noChangeArrowheads="1"/>
            </p:cNvSpPr>
            <p:nvPr/>
          </p:nvSpPr>
          <p:spPr bwMode="auto">
            <a:xfrm>
              <a:off x="6210" y="9675"/>
              <a:ext cx="1605" cy="705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cs typeface="Arial" pitchFamily="34" charset="0"/>
                </a:rPr>
                <a:t>Retrieve User Account Info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147" name="Text Box 27"/>
            <p:cNvSpPr txBox="1">
              <a:spLocks noChangeArrowheads="1"/>
            </p:cNvSpPr>
            <p:nvPr/>
          </p:nvSpPr>
          <p:spPr bwMode="auto">
            <a:xfrm>
              <a:off x="8085" y="12825"/>
              <a:ext cx="1605" cy="705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cs typeface="Arial" pitchFamily="34" charset="0"/>
                </a:rPr>
                <a:t>Update User Account Info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70C0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dobe Garamond Pro" pitchFamily="18" charset="0"/>
              </a:rPr>
              <a:t>Ticket Management</a:t>
            </a:r>
            <a:endParaRPr lang="en-US" dirty="0">
              <a:solidFill>
                <a:srgbClr val="0070C0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Adobe Garamond Pro" pitchFamily="18" charset="0"/>
            </a:endParaRPr>
          </a:p>
        </p:txBody>
      </p:sp>
      <p:grpSp>
        <p:nvGrpSpPr>
          <p:cNvPr id="6146" name="Group 2"/>
          <p:cNvGrpSpPr>
            <a:grpSpLocks/>
          </p:cNvGrpSpPr>
          <p:nvPr/>
        </p:nvGrpSpPr>
        <p:grpSpPr bwMode="auto">
          <a:xfrm>
            <a:off x="685800" y="1600200"/>
            <a:ext cx="7924801" cy="5257800"/>
            <a:chOff x="1510" y="1785"/>
            <a:chExt cx="9691" cy="9885"/>
          </a:xfrm>
        </p:grpSpPr>
        <p:grpSp>
          <p:nvGrpSpPr>
            <p:cNvPr id="6147" name="Group 3"/>
            <p:cNvGrpSpPr>
              <a:grpSpLocks/>
            </p:cNvGrpSpPr>
            <p:nvPr/>
          </p:nvGrpSpPr>
          <p:grpSpPr bwMode="auto">
            <a:xfrm>
              <a:off x="5253" y="3583"/>
              <a:ext cx="2340" cy="1965"/>
              <a:chOff x="3855" y="3135"/>
              <a:chExt cx="2790" cy="2400"/>
            </a:xfrm>
          </p:grpSpPr>
          <p:sp>
            <p:nvSpPr>
              <p:cNvPr id="6148" name="Oval 4"/>
              <p:cNvSpPr>
                <a:spLocks noChangeArrowheads="1"/>
              </p:cNvSpPr>
              <p:nvPr/>
            </p:nvSpPr>
            <p:spPr bwMode="auto">
              <a:xfrm>
                <a:off x="3855" y="3135"/>
                <a:ext cx="2790" cy="2400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149" name="Text Box 5"/>
              <p:cNvSpPr txBox="1">
                <a:spLocks noChangeArrowheads="1"/>
              </p:cNvSpPr>
              <p:nvPr/>
            </p:nvSpPr>
            <p:spPr bwMode="auto">
              <a:xfrm>
                <a:off x="4272" y="3855"/>
                <a:ext cx="1953" cy="1065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100" b="1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  <a:cs typeface="Arial" pitchFamily="34" charset="0"/>
                  </a:rPr>
                  <a:t>Display Ticket Info</a:t>
                </a: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</p:grpSp>
        <p:grpSp>
          <p:nvGrpSpPr>
            <p:cNvPr id="6150" name="Group 6"/>
            <p:cNvGrpSpPr>
              <a:grpSpLocks/>
            </p:cNvGrpSpPr>
            <p:nvPr/>
          </p:nvGrpSpPr>
          <p:grpSpPr bwMode="auto">
            <a:xfrm>
              <a:off x="5253" y="9240"/>
              <a:ext cx="2663" cy="2430"/>
              <a:chOff x="3855" y="3135"/>
              <a:chExt cx="2790" cy="2400"/>
            </a:xfrm>
          </p:grpSpPr>
          <p:sp>
            <p:nvSpPr>
              <p:cNvPr id="6151" name="Oval 7"/>
              <p:cNvSpPr>
                <a:spLocks noChangeArrowheads="1"/>
              </p:cNvSpPr>
              <p:nvPr/>
            </p:nvSpPr>
            <p:spPr bwMode="auto">
              <a:xfrm>
                <a:off x="3855" y="3135"/>
                <a:ext cx="2790" cy="2400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152" name="Text Box 8"/>
              <p:cNvSpPr txBox="1">
                <a:spLocks noChangeArrowheads="1"/>
              </p:cNvSpPr>
              <p:nvPr/>
            </p:nvSpPr>
            <p:spPr bwMode="auto">
              <a:xfrm>
                <a:off x="4272" y="3855"/>
                <a:ext cx="1953" cy="1065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100" b="1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  <a:cs typeface="Arial" pitchFamily="34" charset="0"/>
                  </a:rPr>
                  <a:t>Validate Ticket Management Process</a:t>
                </a: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</p:grpSp>
        <p:grpSp>
          <p:nvGrpSpPr>
            <p:cNvPr id="6153" name="Group 9"/>
            <p:cNvGrpSpPr>
              <a:grpSpLocks/>
            </p:cNvGrpSpPr>
            <p:nvPr/>
          </p:nvGrpSpPr>
          <p:grpSpPr bwMode="auto">
            <a:xfrm>
              <a:off x="1935" y="8130"/>
              <a:ext cx="1994" cy="540"/>
              <a:chOff x="5592" y="630"/>
              <a:chExt cx="1777" cy="540"/>
            </a:xfrm>
          </p:grpSpPr>
          <p:sp>
            <p:nvSpPr>
              <p:cNvPr id="6154" name="Text Box 10"/>
              <p:cNvSpPr txBox="1">
                <a:spLocks noChangeArrowheads="1"/>
              </p:cNvSpPr>
              <p:nvPr/>
            </p:nvSpPr>
            <p:spPr bwMode="auto">
              <a:xfrm>
                <a:off x="5592" y="728"/>
                <a:ext cx="1777" cy="442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100" b="1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  <a:cs typeface="Arial" pitchFamily="34" charset="0"/>
                  </a:rPr>
                  <a:t>Movie Details</a:t>
                </a: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cxnSp>
            <p:nvCxnSpPr>
              <p:cNvPr id="6155" name="AutoShape 11"/>
              <p:cNvCxnSpPr>
                <a:cxnSpLocks noChangeShapeType="1"/>
              </p:cNvCxnSpPr>
              <p:nvPr/>
            </p:nvCxnSpPr>
            <p:spPr bwMode="auto">
              <a:xfrm>
                <a:off x="5592" y="630"/>
                <a:ext cx="1698" cy="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6156" name="AutoShape 12"/>
              <p:cNvCxnSpPr>
                <a:cxnSpLocks noChangeShapeType="1"/>
              </p:cNvCxnSpPr>
              <p:nvPr/>
            </p:nvCxnSpPr>
            <p:spPr bwMode="auto">
              <a:xfrm>
                <a:off x="5592" y="1170"/>
                <a:ext cx="1698" cy="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</p:grpSp>
        <p:grpSp>
          <p:nvGrpSpPr>
            <p:cNvPr id="6157" name="Group 13"/>
            <p:cNvGrpSpPr>
              <a:grpSpLocks/>
            </p:cNvGrpSpPr>
            <p:nvPr/>
          </p:nvGrpSpPr>
          <p:grpSpPr bwMode="auto">
            <a:xfrm>
              <a:off x="8861" y="8302"/>
              <a:ext cx="2074" cy="540"/>
              <a:chOff x="5592" y="630"/>
              <a:chExt cx="1777" cy="540"/>
            </a:xfrm>
          </p:grpSpPr>
          <p:sp>
            <p:nvSpPr>
              <p:cNvPr id="6158" name="Text Box 14"/>
              <p:cNvSpPr txBox="1">
                <a:spLocks noChangeArrowheads="1"/>
              </p:cNvSpPr>
              <p:nvPr/>
            </p:nvSpPr>
            <p:spPr bwMode="auto">
              <a:xfrm>
                <a:off x="5592" y="728"/>
                <a:ext cx="1777" cy="442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100" b="1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  <a:cs typeface="Arial" pitchFamily="34" charset="0"/>
                  </a:rPr>
                  <a:t>Theater Details</a:t>
                </a: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cxnSp>
            <p:nvCxnSpPr>
              <p:cNvPr id="6159" name="AutoShape 15"/>
              <p:cNvCxnSpPr>
                <a:cxnSpLocks noChangeShapeType="1"/>
              </p:cNvCxnSpPr>
              <p:nvPr/>
            </p:nvCxnSpPr>
            <p:spPr bwMode="auto">
              <a:xfrm>
                <a:off x="5592" y="630"/>
                <a:ext cx="1698" cy="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6160" name="AutoShape 16"/>
              <p:cNvCxnSpPr>
                <a:cxnSpLocks noChangeShapeType="1"/>
              </p:cNvCxnSpPr>
              <p:nvPr/>
            </p:nvCxnSpPr>
            <p:spPr bwMode="auto">
              <a:xfrm>
                <a:off x="5592" y="1170"/>
                <a:ext cx="1698" cy="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</p:grpSp>
        <p:grpSp>
          <p:nvGrpSpPr>
            <p:cNvPr id="6161" name="Group 17"/>
            <p:cNvGrpSpPr>
              <a:grpSpLocks/>
            </p:cNvGrpSpPr>
            <p:nvPr/>
          </p:nvGrpSpPr>
          <p:grpSpPr bwMode="auto">
            <a:xfrm>
              <a:off x="5651" y="6825"/>
              <a:ext cx="1942" cy="540"/>
              <a:chOff x="5592" y="630"/>
              <a:chExt cx="1777" cy="540"/>
            </a:xfrm>
          </p:grpSpPr>
          <p:sp>
            <p:nvSpPr>
              <p:cNvPr id="6162" name="Text Box 18"/>
              <p:cNvSpPr txBox="1">
                <a:spLocks noChangeArrowheads="1"/>
              </p:cNvSpPr>
              <p:nvPr/>
            </p:nvSpPr>
            <p:spPr bwMode="auto">
              <a:xfrm>
                <a:off x="5592" y="728"/>
                <a:ext cx="1777" cy="442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100" b="1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  <a:cs typeface="Arial" pitchFamily="34" charset="0"/>
                  </a:rPr>
                  <a:t>Ticket Details</a:t>
                </a: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cxnSp>
            <p:nvCxnSpPr>
              <p:cNvPr id="6163" name="AutoShape 19"/>
              <p:cNvCxnSpPr>
                <a:cxnSpLocks noChangeShapeType="1"/>
              </p:cNvCxnSpPr>
              <p:nvPr/>
            </p:nvCxnSpPr>
            <p:spPr bwMode="auto">
              <a:xfrm>
                <a:off x="5592" y="630"/>
                <a:ext cx="1698" cy="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6164" name="AutoShape 20"/>
              <p:cNvCxnSpPr>
                <a:cxnSpLocks noChangeShapeType="1"/>
              </p:cNvCxnSpPr>
              <p:nvPr/>
            </p:nvCxnSpPr>
            <p:spPr bwMode="auto">
              <a:xfrm>
                <a:off x="5592" y="1170"/>
                <a:ext cx="1698" cy="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</p:grpSp>
        <p:grpSp>
          <p:nvGrpSpPr>
            <p:cNvPr id="6165" name="Group 21"/>
            <p:cNvGrpSpPr>
              <a:grpSpLocks/>
            </p:cNvGrpSpPr>
            <p:nvPr/>
          </p:nvGrpSpPr>
          <p:grpSpPr bwMode="auto">
            <a:xfrm>
              <a:off x="1510" y="4958"/>
              <a:ext cx="2340" cy="1965"/>
              <a:chOff x="3855" y="3135"/>
              <a:chExt cx="2790" cy="2400"/>
            </a:xfrm>
          </p:grpSpPr>
          <p:sp>
            <p:nvSpPr>
              <p:cNvPr id="6166" name="Oval 22"/>
              <p:cNvSpPr>
                <a:spLocks noChangeArrowheads="1"/>
              </p:cNvSpPr>
              <p:nvPr/>
            </p:nvSpPr>
            <p:spPr bwMode="auto">
              <a:xfrm>
                <a:off x="3855" y="3135"/>
                <a:ext cx="2790" cy="2400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167" name="Text Box 23"/>
              <p:cNvSpPr txBox="1">
                <a:spLocks noChangeArrowheads="1"/>
              </p:cNvSpPr>
              <p:nvPr/>
            </p:nvSpPr>
            <p:spPr bwMode="auto">
              <a:xfrm>
                <a:off x="4272" y="3855"/>
                <a:ext cx="1953" cy="1065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100" b="1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  <a:cs typeface="Arial" pitchFamily="34" charset="0"/>
                  </a:rPr>
                  <a:t>Display Movie Info</a:t>
                </a: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</p:grpSp>
        <p:grpSp>
          <p:nvGrpSpPr>
            <p:cNvPr id="6168" name="Group 24"/>
            <p:cNvGrpSpPr>
              <a:grpSpLocks/>
            </p:cNvGrpSpPr>
            <p:nvPr/>
          </p:nvGrpSpPr>
          <p:grpSpPr bwMode="auto">
            <a:xfrm>
              <a:off x="8861" y="5044"/>
              <a:ext cx="2340" cy="1965"/>
              <a:chOff x="3855" y="3135"/>
              <a:chExt cx="2790" cy="2400"/>
            </a:xfrm>
          </p:grpSpPr>
          <p:sp>
            <p:nvSpPr>
              <p:cNvPr id="6169" name="Oval 25"/>
              <p:cNvSpPr>
                <a:spLocks noChangeArrowheads="1"/>
              </p:cNvSpPr>
              <p:nvPr/>
            </p:nvSpPr>
            <p:spPr bwMode="auto">
              <a:xfrm>
                <a:off x="3855" y="3135"/>
                <a:ext cx="2790" cy="2400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170" name="Text Box 26"/>
              <p:cNvSpPr txBox="1">
                <a:spLocks noChangeArrowheads="1"/>
              </p:cNvSpPr>
              <p:nvPr/>
            </p:nvSpPr>
            <p:spPr bwMode="auto">
              <a:xfrm>
                <a:off x="4272" y="3855"/>
                <a:ext cx="1953" cy="1065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100" b="1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  <a:cs typeface="Arial" pitchFamily="34" charset="0"/>
                  </a:rPr>
                  <a:t>Display Theater Info</a:t>
                </a: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</p:grpSp>
        <p:grpSp>
          <p:nvGrpSpPr>
            <p:cNvPr id="6171" name="Group 27"/>
            <p:cNvGrpSpPr>
              <a:grpSpLocks/>
            </p:cNvGrpSpPr>
            <p:nvPr/>
          </p:nvGrpSpPr>
          <p:grpSpPr bwMode="auto">
            <a:xfrm>
              <a:off x="5463" y="1785"/>
              <a:ext cx="2130" cy="900"/>
              <a:chOff x="1965" y="5505"/>
              <a:chExt cx="2130" cy="900"/>
            </a:xfrm>
          </p:grpSpPr>
          <p:sp>
            <p:nvSpPr>
              <p:cNvPr id="6172" name="Rectangle 28"/>
              <p:cNvSpPr>
                <a:spLocks noChangeArrowheads="1"/>
              </p:cNvSpPr>
              <p:nvPr/>
            </p:nvSpPr>
            <p:spPr bwMode="auto">
              <a:xfrm>
                <a:off x="1965" y="5505"/>
                <a:ext cx="2130" cy="9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6173" name="Text Box 29"/>
              <p:cNvSpPr txBox="1">
                <a:spLocks noChangeArrowheads="1"/>
              </p:cNvSpPr>
              <p:nvPr/>
            </p:nvSpPr>
            <p:spPr bwMode="auto">
              <a:xfrm>
                <a:off x="2152" y="5685"/>
                <a:ext cx="1838" cy="57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1600" b="1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  <a:cs typeface="Arial" pitchFamily="34" charset="0"/>
                  </a:rPr>
                  <a:t>Customer</a:t>
                </a: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</p:grpSp>
        <p:cxnSp>
          <p:nvCxnSpPr>
            <p:cNvPr id="6174" name="AutoShape 30"/>
            <p:cNvCxnSpPr>
              <a:cxnSpLocks noChangeShapeType="1"/>
            </p:cNvCxnSpPr>
            <p:nvPr/>
          </p:nvCxnSpPr>
          <p:spPr bwMode="auto">
            <a:xfrm flipH="1">
              <a:off x="5730" y="7500"/>
              <a:ext cx="30" cy="181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</p:cxnSp>
        <p:cxnSp>
          <p:nvCxnSpPr>
            <p:cNvPr id="6175" name="AutoShape 31"/>
            <p:cNvCxnSpPr>
              <a:cxnSpLocks noChangeShapeType="1"/>
            </p:cNvCxnSpPr>
            <p:nvPr/>
          </p:nvCxnSpPr>
          <p:spPr bwMode="auto">
            <a:xfrm flipV="1">
              <a:off x="6795" y="7500"/>
              <a:ext cx="1" cy="165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</p:cxnSp>
        <p:cxnSp>
          <p:nvCxnSpPr>
            <p:cNvPr id="6176" name="AutoShape 32"/>
            <p:cNvCxnSpPr>
              <a:cxnSpLocks noChangeShapeType="1"/>
            </p:cNvCxnSpPr>
            <p:nvPr/>
          </p:nvCxnSpPr>
          <p:spPr bwMode="auto">
            <a:xfrm flipH="1">
              <a:off x="7774" y="11145"/>
              <a:ext cx="2711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</p:cxnSp>
        <p:cxnSp>
          <p:nvCxnSpPr>
            <p:cNvPr id="6177" name="AutoShape 33"/>
            <p:cNvCxnSpPr>
              <a:cxnSpLocks noChangeShapeType="1"/>
            </p:cNvCxnSpPr>
            <p:nvPr/>
          </p:nvCxnSpPr>
          <p:spPr bwMode="auto">
            <a:xfrm>
              <a:off x="2152" y="10935"/>
              <a:ext cx="2993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</p:cxnSp>
        <p:cxnSp>
          <p:nvCxnSpPr>
            <p:cNvPr id="6178" name="AutoShape 34"/>
            <p:cNvCxnSpPr>
              <a:cxnSpLocks noChangeShapeType="1"/>
            </p:cNvCxnSpPr>
            <p:nvPr/>
          </p:nvCxnSpPr>
          <p:spPr bwMode="auto">
            <a:xfrm flipV="1">
              <a:off x="6480" y="5634"/>
              <a:ext cx="0" cy="108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</p:cxnSp>
        <p:cxnSp>
          <p:nvCxnSpPr>
            <p:cNvPr id="6179" name="AutoShape 35"/>
            <p:cNvCxnSpPr>
              <a:cxnSpLocks noChangeShapeType="1"/>
            </p:cNvCxnSpPr>
            <p:nvPr/>
          </p:nvCxnSpPr>
          <p:spPr bwMode="auto">
            <a:xfrm flipV="1">
              <a:off x="9975" y="7044"/>
              <a:ext cx="0" cy="108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</p:cxnSp>
        <p:cxnSp>
          <p:nvCxnSpPr>
            <p:cNvPr id="6180" name="AutoShape 36"/>
            <p:cNvCxnSpPr>
              <a:cxnSpLocks noChangeShapeType="1"/>
            </p:cNvCxnSpPr>
            <p:nvPr/>
          </p:nvCxnSpPr>
          <p:spPr bwMode="auto">
            <a:xfrm flipV="1">
              <a:off x="2775" y="6960"/>
              <a:ext cx="0" cy="108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</p:cxnSp>
        <p:cxnSp>
          <p:nvCxnSpPr>
            <p:cNvPr id="6181" name="AutoShape 37"/>
            <p:cNvCxnSpPr>
              <a:cxnSpLocks noChangeShapeType="1"/>
            </p:cNvCxnSpPr>
            <p:nvPr/>
          </p:nvCxnSpPr>
          <p:spPr bwMode="auto">
            <a:xfrm flipV="1">
              <a:off x="6375" y="2790"/>
              <a:ext cx="1" cy="69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</p:cxnSp>
        <p:cxnSp>
          <p:nvCxnSpPr>
            <p:cNvPr id="6182" name="AutoShape 38"/>
            <p:cNvCxnSpPr>
              <a:cxnSpLocks noChangeShapeType="1"/>
            </p:cNvCxnSpPr>
            <p:nvPr/>
          </p:nvCxnSpPr>
          <p:spPr bwMode="auto">
            <a:xfrm flipV="1">
              <a:off x="9211" y="8980"/>
              <a:ext cx="0" cy="108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</p:cxnSp>
        <p:cxnSp>
          <p:nvCxnSpPr>
            <p:cNvPr id="6183" name="AutoShape 39"/>
            <p:cNvCxnSpPr>
              <a:cxnSpLocks noChangeShapeType="1"/>
            </p:cNvCxnSpPr>
            <p:nvPr/>
          </p:nvCxnSpPr>
          <p:spPr bwMode="auto">
            <a:xfrm flipV="1">
              <a:off x="3600" y="8844"/>
              <a:ext cx="0" cy="108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</p:cxnSp>
        <p:cxnSp>
          <p:nvCxnSpPr>
            <p:cNvPr id="6184" name="AutoShape 40"/>
            <p:cNvCxnSpPr>
              <a:cxnSpLocks noChangeShapeType="1"/>
            </p:cNvCxnSpPr>
            <p:nvPr/>
          </p:nvCxnSpPr>
          <p:spPr bwMode="auto">
            <a:xfrm flipV="1">
              <a:off x="2152" y="8842"/>
              <a:ext cx="0" cy="209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6185" name="AutoShape 41"/>
            <p:cNvCxnSpPr>
              <a:cxnSpLocks noChangeShapeType="1"/>
            </p:cNvCxnSpPr>
            <p:nvPr/>
          </p:nvCxnSpPr>
          <p:spPr bwMode="auto">
            <a:xfrm flipV="1">
              <a:off x="10485" y="8980"/>
              <a:ext cx="1" cy="216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6186" name="AutoShape 42"/>
            <p:cNvCxnSpPr>
              <a:cxnSpLocks noChangeShapeType="1"/>
            </p:cNvCxnSpPr>
            <p:nvPr/>
          </p:nvCxnSpPr>
          <p:spPr bwMode="auto">
            <a:xfrm flipH="1">
              <a:off x="3600" y="9930"/>
              <a:ext cx="1545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6187" name="AutoShape 43"/>
            <p:cNvCxnSpPr>
              <a:cxnSpLocks noChangeShapeType="1"/>
            </p:cNvCxnSpPr>
            <p:nvPr/>
          </p:nvCxnSpPr>
          <p:spPr bwMode="auto">
            <a:xfrm flipH="1">
              <a:off x="7916" y="10066"/>
              <a:ext cx="1295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sp>
          <p:nvSpPr>
            <p:cNvPr id="6188" name="Text Box 44"/>
            <p:cNvSpPr txBox="1">
              <a:spLocks noChangeArrowheads="1"/>
            </p:cNvSpPr>
            <p:nvPr/>
          </p:nvSpPr>
          <p:spPr bwMode="auto">
            <a:xfrm>
              <a:off x="6577" y="2790"/>
              <a:ext cx="1583" cy="69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cs typeface="Arial" pitchFamily="34" charset="0"/>
                </a:rPr>
                <a:t>View Ticket Info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189" name="Text Box 45"/>
            <p:cNvSpPr txBox="1">
              <a:spLocks noChangeArrowheads="1"/>
            </p:cNvSpPr>
            <p:nvPr/>
          </p:nvSpPr>
          <p:spPr bwMode="auto">
            <a:xfrm>
              <a:off x="2437" y="3690"/>
              <a:ext cx="1583" cy="69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cs typeface="Arial" pitchFamily="34" charset="0"/>
                </a:rPr>
                <a:t>View Movie Info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190" name="Text Box 46"/>
            <p:cNvSpPr txBox="1">
              <a:spLocks noChangeArrowheads="1"/>
            </p:cNvSpPr>
            <p:nvPr/>
          </p:nvSpPr>
          <p:spPr bwMode="auto">
            <a:xfrm>
              <a:off x="8486" y="3690"/>
              <a:ext cx="1583" cy="69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cs typeface="Arial" pitchFamily="34" charset="0"/>
                </a:rPr>
                <a:t>View Theater Info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6191" name="AutoShape 47"/>
            <p:cNvCxnSpPr>
              <a:cxnSpLocks noChangeShapeType="1"/>
            </p:cNvCxnSpPr>
            <p:nvPr/>
          </p:nvCxnSpPr>
          <p:spPr bwMode="auto">
            <a:xfrm flipH="1">
              <a:off x="7710" y="2535"/>
              <a:ext cx="2475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</p:cxnSp>
        <p:cxnSp>
          <p:nvCxnSpPr>
            <p:cNvPr id="6192" name="AutoShape 48"/>
            <p:cNvCxnSpPr>
              <a:cxnSpLocks noChangeShapeType="1"/>
            </p:cNvCxnSpPr>
            <p:nvPr/>
          </p:nvCxnSpPr>
          <p:spPr bwMode="auto">
            <a:xfrm>
              <a:off x="2340" y="2535"/>
              <a:ext cx="2913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</p:cxnSp>
        <p:cxnSp>
          <p:nvCxnSpPr>
            <p:cNvPr id="6193" name="AutoShape 49"/>
            <p:cNvCxnSpPr>
              <a:cxnSpLocks noChangeShapeType="1"/>
            </p:cNvCxnSpPr>
            <p:nvPr/>
          </p:nvCxnSpPr>
          <p:spPr bwMode="auto">
            <a:xfrm>
              <a:off x="2340" y="2535"/>
              <a:ext cx="0" cy="222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6194" name="AutoShape 50"/>
            <p:cNvCxnSpPr>
              <a:cxnSpLocks noChangeShapeType="1"/>
            </p:cNvCxnSpPr>
            <p:nvPr/>
          </p:nvCxnSpPr>
          <p:spPr bwMode="auto">
            <a:xfrm>
              <a:off x="10185" y="2535"/>
              <a:ext cx="0" cy="2423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sp>
          <p:nvSpPr>
            <p:cNvPr id="6195" name="Text Box 51"/>
            <p:cNvSpPr txBox="1">
              <a:spLocks noChangeArrowheads="1"/>
            </p:cNvSpPr>
            <p:nvPr/>
          </p:nvSpPr>
          <p:spPr bwMode="auto">
            <a:xfrm>
              <a:off x="4658" y="5815"/>
              <a:ext cx="1583" cy="69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cs typeface="Arial" pitchFamily="34" charset="0"/>
                </a:rPr>
                <a:t>Retrieve Ticket Info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196" name="Text Box 52"/>
            <p:cNvSpPr txBox="1">
              <a:spLocks noChangeArrowheads="1"/>
            </p:cNvSpPr>
            <p:nvPr/>
          </p:nvSpPr>
          <p:spPr bwMode="auto">
            <a:xfrm>
              <a:off x="2977" y="7044"/>
              <a:ext cx="1583" cy="69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cs typeface="Arial" pitchFamily="34" charset="0"/>
                </a:rPr>
                <a:t>Retrieve Movie Info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197" name="Text Box 53"/>
            <p:cNvSpPr txBox="1">
              <a:spLocks noChangeArrowheads="1"/>
            </p:cNvSpPr>
            <p:nvPr/>
          </p:nvSpPr>
          <p:spPr bwMode="auto">
            <a:xfrm>
              <a:off x="8074" y="7185"/>
              <a:ext cx="1583" cy="69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cs typeface="Arial" pitchFamily="34" charset="0"/>
                </a:rPr>
                <a:t>Retrieve Theater Info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198" name="Text Box 54"/>
            <p:cNvSpPr txBox="1">
              <a:spLocks noChangeArrowheads="1"/>
            </p:cNvSpPr>
            <p:nvPr/>
          </p:nvSpPr>
          <p:spPr bwMode="auto">
            <a:xfrm>
              <a:off x="3840" y="9150"/>
              <a:ext cx="1583" cy="69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cs typeface="Arial" pitchFamily="34" charset="0"/>
                </a:rPr>
                <a:t>Update Movie Info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199" name="Text Box 55"/>
            <p:cNvSpPr txBox="1">
              <a:spLocks noChangeArrowheads="1"/>
            </p:cNvSpPr>
            <p:nvPr/>
          </p:nvSpPr>
          <p:spPr bwMode="auto">
            <a:xfrm>
              <a:off x="2497" y="10080"/>
              <a:ext cx="1583" cy="69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cs typeface="Arial" pitchFamily="34" charset="0"/>
                </a:rPr>
                <a:t>Retrieve Movie Info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200" name="Text Box 56"/>
            <p:cNvSpPr txBox="1">
              <a:spLocks noChangeArrowheads="1"/>
            </p:cNvSpPr>
            <p:nvPr/>
          </p:nvSpPr>
          <p:spPr bwMode="auto">
            <a:xfrm>
              <a:off x="4267" y="7734"/>
              <a:ext cx="1383" cy="69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cs typeface="Arial" pitchFamily="34" charset="0"/>
                </a:rPr>
                <a:t>Retrieve Ticket Info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201" name="Text Box 57"/>
            <p:cNvSpPr txBox="1">
              <a:spLocks noChangeArrowheads="1"/>
            </p:cNvSpPr>
            <p:nvPr/>
          </p:nvSpPr>
          <p:spPr bwMode="auto">
            <a:xfrm>
              <a:off x="7488" y="8980"/>
              <a:ext cx="1583" cy="69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cs typeface="Arial" pitchFamily="34" charset="0"/>
                </a:rPr>
                <a:t>Retrieve Theater Info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202" name="Text Box 58"/>
            <p:cNvSpPr txBox="1">
              <a:spLocks noChangeArrowheads="1"/>
            </p:cNvSpPr>
            <p:nvPr/>
          </p:nvSpPr>
          <p:spPr bwMode="auto">
            <a:xfrm>
              <a:off x="8392" y="10357"/>
              <a:ext cx="1583" cy="69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cs typeface="Arial" pitchFamily="34" charset="0"/>
                </a:rPr>
                <a:t>Update Theater Info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203" name="Text Box 59"/>
            <p:cNvSpPr txBox="1">
              <a:spLocks noChangeArrowheads="1"/>
            </p:cNvSpPr>
            <p:nvPr/>
          </p:nvSpPr>
          <p:spPr bwMode="auto">
            <a:xfrm>
              <a:off x="6903" y="8046"/>
              <a:ext cx="1583" cy="69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cs typeface="Arial" pitchFamily="34" charset="0"/>
                </a:rPr>
                <a:t>Update Ticket Info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C00000"/>
          </a:solidFill>
          <a:ln w="76200">
            <a:solidFill>
              <a:srgbClr val="FFFF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en-US" dirty="0" smtClean="0">
                <a:solidFill>
                  <a:srgbClr val="FFFF00"/>
                </a:solidFill>
                <a:cs typeface="Aharoni" pitchFamily="2" charset="-79"/>
              </a:rPr>
              <a:t>Entity Relationship Diagram</a:t>
            </a:r>
            <a:endParaRPr lang="en-US" dirty="0">
              <a:solidFill>
                <a:srgbClr val="FFFF00"/>
              </a:solidFill>
              <a:cs typeface="Aharoni" pitchFamily="2" charset="-79"/>
            </a:endParaRPr>
          </a:p>
        </p:txBody>
      </p:sp>
      <p:pic>
        <p:nvPicPr>
          <p:cNvPr id="7170" name="Picture 7"/>
          <p:cNvPicPr>
            <a:picLocks noChangeAspect="1" noChangeArrowheads="1"/>
          </p:cNvPicPr>
          <p:nvPr/>
        </p:nvPicPr>
        <p:blipFill>
          <a:blip r:embed="rId2"/>
          <a:srcRect l="25833" t="24690" r="25833" b="10123"/>
          <a:stretch>
            <a:fillRect/>
          </a:stretch>
        </p:blipFill>
        <p:spPr bwMode="auto">
          <a:xfrm>
            <a:off x="457200" y="1600200"/>
            <a:ext cx="8229600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25000" b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20132686">
            <a:off x="609600" y="2971800"/>
            <a:ext cx="8229600" cy="11430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/>
          <a:p>
            <a:r>
              <a:rPr lang="en-US" sz="6600" dirty="0" smtClean="0">
                <a:ln>
                  <a:solidFill>
                    <a:srgbClr val="FF0000"/>
                  </a:solidFill>
                </a:ln>
                <a:solidFill>
                  <a:srgbClr val="C00000"/>
                </a:solidFill>
                <a:latin typeface="Arial Black" pitchFamily="34" charset="0"/>
              </a:rPr>
              <a:t>Use Case Diagram</a:t>
            </a:r>
            <a:endParaRPr lang="en-US" sz="6600" dirty="0">
              <a:ln>
                <a:solidFill>
                  <a:srgbClr val="FF0000"/>
                </a:solidFill>
              </a:ln>
              <a:solidFill>
                <a:srgbClr val="C00000"/>
              </a:solidFill>
              <a:latin typeface="Arial Black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  <p:grpSp>
        <p:nvGrpSpPr>
          <p:cNvPr id="8194" name="Group 2"/>
          <p:cNvGrpSpPr>
            <a:grpSpLocks/>
          </p:cNvGrpSpPr>
          <p:nvPr/>
        </p:nvGrpSpPr>
        <p:grpSpPr bwMode="auto">
          <a:xfrm>
            <a:off x="1295400" y="228600"/>
            <a:ext cx="6348413" cy="6248399"/>
            <a:chOff x="1133" y="3180"/>
            <a:chExt cx="9997" cy="11715"/>
          </a:xfrm>
        </p:grpSpPr>
        <p:sp>
          <p:nvSpPr>
            <p:cNvPr id="8195" name="Rectangle 3"/>
            <p:cNvSpPr>
              <a:spLocks noChangeArrowheads="1"/>
            </p:cNvSpPr>
            <p:nvPr/>
          </p:nvSpPr>
          <p:spPr bwMode="auto">
            <a:xfrm>
              <a:off x="3780" y="3180"/>
              <a:ext cx="4995" cy="1171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8196" name="Group 4"/>
            <p:cNvGrpSpPr>
              <a:grpSpLocks/>
            </p:cNvGrpSpPr>
            <p:nvPr/>
          </p:nvGrpSpPr>
          <p:grpSpPr bwMode="auto">
            <a:xfrm>
              <a:off x="1275" y="11700"/>
              <a:ext cx="1200" cy="2235"/>
              <a:chOff x="870" y="1950"/>
              <a:chExt cx="1200" cy="2235"/>
            </a:xfrm>
          </p:grpSpPr>
          <p:sp>
            <p:nvSpPr>
              <p:cNvPr id="8197" name="Oval 5"/>
              <p:cNvSpPr>
                <a:spLocks noChangeArrowheads="1"/>
              </p:cNvSpPr>
              <p:nvPr/>
            </p:nvSpPr>
            <p:spPr bwMode="auto">
              <a:xfrm>
                <a:off x="1005" y="1950"/>
                <a:ext cx="750" cy="690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cxnSp>
            <p:nvCxnSpPr>
              <p:cNvPr id="8198" name="AutoShape 6"/>
              <p:cNvCxnSpPr>
                <a:cxnSpLocks noChangeShapeType="1"/>
              </p:cNvCxnSpPr>
              <p:nvPr/>
            </p:nvCxnSpPr>
            <p:spPr bwMode="auto">
              <a:xfrm>
                <a:off x="1380" y="2640"/>
                <a:ext cx="0" cy="108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8199" name="AutoShape 7"/>
              <p:cNvCxnSpPr>
                <a:cxnSpLocks noChangeShapeType="1"/>
              </p:cNvCxnSpPr>
              <p:nvPr/>
            </p:nvCxnSpPr>
            <p:spPr bwMode="auto">
              <a:xfrm>
                <a:off x="870" y="2880"/>
                <a:ext cx="1200" cy="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8200" name="AutoShape 8"/>
              <p:cNvCxnSpPr>
                <a:cxnSpLocks noChangeShapeType="1"/>
              </p:cNvCxnSpPr>
              <p:nvPr/>
            </p:nvCxnSpPr>
            <p:spPr bwMode="auto">
              <a:xfrm flipH="1">
                <a:off x="870" y="3720"/>
                <a:ext cx="510" cy="465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8201" name="AutoShape 9"/>
              <p:cNvCxnSpPr>
                <a:cxnSpLocks noChangeShapeType="1"/>
              </p:cNvCxnSpPr>
              <p:nvPr/>
            </p:nvCxnSpPr>
            <p:spPr bwMode="auto">
              <a:xfrm>
                <a:off x="1380" y="3720"/>
                <a:ext cx="375" cy="465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</p:grpSp>
        <p:grpSp>
          <p:nvGrpSpPr>
            <p:cNvPr id="8202" name="Group 10"/>
            <p:cNvGrpSpPr>
              <a:grpSpLocks/>
            </p:cNvGrpSpPr>
            <p:nvPr/>
          </p:nvGrpSpPr>
          <p:grpSpPr bwMode="auto">
            <a:xfrm>
              <a:off x="1140" y="3360"/>
              <a:ext cx="1200" cy="2235"/>
              <a:chOff x="870" y="1950"/>
              <a:chExt cx="1200" cy="2235"/>
            </a:xfrm>
          </p:grpSpPr>
          <p:sp>
            <p:nvSpPr>
              <p:cNvPr id="8203" name="Oval 11"/>
              <p:cNvSpPr>
                <a:spLocks noChangeArrowheads="1"/>
              </p:cNvSpPr>
              <p:nvPr/>
            </p:nvSpPr>
            <p:spPr bwMode="auto">
              <a:xfrm>
                <a:off x="1005" y="1950"/>
                <a:ext cx="750" cy="690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cxnSp>
            <p:nvCxnSpPr>
              <p:cNvPr id="8204" name="AutoShape 12"/>
              <p:cNvCxnSpPr>
                <a:cxnSpLocks noChangeShapeType="1"/>
              </p:cNvCxnSpPr>
              <p:nvPr/>
            </p:nvCxnSpPr>
            <p:spPr bwMode="auto">
              <a:xfrm>
                <a:off x="1380" y="2640"/>
                <a:ext cx="0" cy="108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8205" name="AutoShape 13"/>
              <p:cNvCxnSpPr>
                <a:cxnSpLocks noChangeShapeType="1"/>
              </p:cNvCxnSpPr>
              <p:nvPr/>
            </p:nvCxnSpPr>
            <p:spPr bwMode="auto">
              <a:xfrm>
                <a:off x="870" y="2880"/>
                <a:ext cx="1200" cy="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8206" name="AutoShape 14"/>
              <p:cNvCxnSpPr>
                <a:cxnSpLocks noChangeShapeType="1"/>
              </p:cNvCxnSpPr>
              <p:nvPr/>
            </p:nvCxnSpPr>
            <p:spPr bwMode="auto">
              <a:xfrm flipH="1">
                <a:off x="870" y="3720"/>
                <a:ext cx="510" cy="465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8207" name="AutoShape 15"/>
              <p:cNvCxnSpPr>
                <a:cxnSpLocks noChangeShapeType="1"/>
              </p:cNvCxnSpPr>
              <p:nvPr/>
            </p:nvCxnSpPr>
            <p:spPr bwMode="auto">
              <a:xfrm>
                <a:off x="1380" y="3720"/>
                <a:ext cx="375" cy="465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</p:grpSp>
        <p:grpSp>
          <p:nvGrpSpPr>
            <p:cNvPr id="8208" name="Group 16"/>
            <p:cNvGrpSpPr>
              <a:grpSpLocks/>
            </p:cNvGrpSpPr>
            <p:nvPr/>
          </p:nvGrpSpPr>
          <p:grpSpPr bwMode="auto">
            <a:xfrm>
              <a:off x="9930" y="7635"/>
              <a:ext cx="1200" cy="2235"/>
              <a:chOff x="870" y="1950"/>
              <a:chExt cx="1200" cy="2235"/>
            </a:xfrm>
          </p:grpSpPr>
          <p:sp>
            <p:nvSpPr>
              <p:cNvPr id="8209" name="Oval 17"/>
              <p:cNvSpPr>
                <a:spLocks noChangeArrowheads="1"/>
              </p:cNvSpPr>
              <p:nvPr/>
            </p:nvSpPr>
            <p:spPr bwMode="auto">
              <a:xfrm>
                <a:off x="1005" y="1950"/>
                <a:ext cx="750" cy="690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cxnSp>
            <p:nvCxnSpPr>
              <p:cNvPr id="8210" name="AutoShape 18"/>
              <p:cNvCxnSpPr>
                <a:cxnSpLocks noChangeShapeType="1"/>
              </p:cNvCxnSpPr>
              <p:nvPr/>
            </p:nvCxnSpPr>
            <p:spPr bwMode="auto">
              <a:xfrm>
                <a:off x="1380" y="2640"/>
                <a:ext cx="0" cy="108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8211" name="AutoShape 19"/>
              <p:cNvCxnSpPr>
                <a:cxnSpLocks noChangeShapeType="1"/>
              </p:cNvCxnSpPr>
              <p:nvPr/>
            </p:nvCxnSpPr>
            <p:spPr bwMode="auto">
              <a:xfrm>
                <a:off x="870" y="2880"/>
                <a:ext cx="1200" cy="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8212" name="AutoShape 20"/>
              <p:cNvCxnSpPr>
                <a:cxnSpLocks noChangeShapeType="1"/>
              </p:cNvCxnSpPr>
              <p:nvPr/>
            </p:nvCxnSpPr>
            <p:spPr bwMode="auto">
              <a:xfrm flipH="1">
                <a:off x="870" y="3720"/>
                <a:ext cx="510" cy="465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  <p:cxnSp>
            <p:nvCxnSpPr>
              <p:cNvPr id="8213" name="AutoShape 21"/>
              <p:cNvCxnSpPr>
                <a:cxnSpLocks noChangeShapeType="1"/>
              </p:cNvCxnSpPr>
              <p:nvPr/>
            </p:nvCxnSpPr>
            <p:spPr bwMode="auto">
              <a:xfrm>
                <a:off x="1380" y="3720"/>
                <a:ext cx="375" cy="465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</p:spPr>
          </p:cxnSp>
        </p:grpSp>
        <p:sp>
          <p:nvSpPr>
            <p:cNvPr id="8214" name="Text Box 22"/>
            <p:cNvSpPr txBox="1">
              <a:spLocks noChangeArrowheads="1"/>
            </p:cNvSpPr>
            <p:nvPr/>
          </p:nvSpPr>
          <p:spPr bwMode="auto">
            <a:xfrm>
              <a:off x="1133" y="6000"/>
              <a:ext cx="1027" cy="52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cs typeface="Arial" pitchFamily="34" charset="0"/>
                </a:rPr>
                <a:t>Admin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8215" name="Text Box 23"/>
            <p:cNvSpPr txBox="1">
              <a:spLocks noChangeArrowheads="1"/>
            </p:cNvSpPr>
            <p:nvPr/>
          </p:nvSpPr>
          <p:spPr bwMode="auto">
            <a:xfrm>
              <a:off x="9690" y="10215"/>
              <a:ext cx="1267" cy="6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cs typeface="Arial" pitchFamily="34" charset="0"/>
                </a:rPr>
                <a:t>Staff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8216" name="Text Box 24"/>
            <p:cNvSpPr txBox="1">
              <a:spLocks noChangeArrowheads="1"/>
            </p:cNvSpPr>
            <p:nvPr/>
          </p:nvSpPr>
          <p:spPr bwMode="auto">
            <a:xfrm>
              <a:off x="1133" y="14236"/>
              <a:ext cx="1324" cy="524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cs typeface="Arial" pitchFamily="34" charset="0"/>
                </a:rPr>
                <a:t>Customer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8217" name="AutoShape 25"/>
            <p:cNvCxnSpPr>
              <a:cxnSpLocks noChangeShapeType="1"/>
            </p:cNvCxnSpPr>
            <p:nvPr/>
          </p:nvCxnSpPr>
          <p:spPr bwMode="auto">
            <a:xfrm flipV="1">
              <a:off x="2475" y="4050"/>
              <a:ext cx="1740" cy="24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</p:cxnSp>
        <p:cxnSp>
          <p:nvCxnSpPr>
            <p:cNvPr id="8218" name="AutoShape 26"/>
            <p:cNvCxnSpPr>
              <a:cxnSpLocks noChangeShapeType="1"/>
            </p:cNvCxnSpPr>
            <p:nvPr/>
          </p:nvCxnSpPr>
          <p:spPr bwMode="auto">
            <a:xfrm>
              <a:off x="2580" y="4365"/>
              <a:ext cx="1635" cy="76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</p:cxnSp>
        <p:cxnSp>
          <p:nvCxnSpPr>
            <p:cNvPr id="8219" name="AutoShape 27"/>
            <p:cNvCxnSpPr>
              <a:cxnSpLocks noChangeShapeType="1"/>
            </p:cNvCxnSpPr>
            <p:nvPr/>
          </p:nvCxnSpPr>
          <p:spPr bwMode="auto">
            <a:xfrm flipV="1">
              <a:off x="2265" y="5579"/>
              <a:ext cx="2209" cy="612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</p:cxnSp>
        <p:cxnSp>
          <p:nvCxnSpPr>
            <p:cNvPr id="8220" name="AutoShape 28"/>
            <p:cNvCxnSpPr>
              <a:cxnSpLocks noChangeShapeType="1"/>
            </p:cNvCxnSpPr>
            <p:nvPr/>
          </p:nvCxnSpPr>
          <p:spPr bwMode="auto">
            <a:xfrm flipH="1" flipV="1">
              <a:off x="7931" y="5579"/>
              <a:ext cx="1759" cy="306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</p:cxnSp>
        <p:cxnSp>
          <p:nvCxnSpPr>
            <p:cNvPr id="8221" name="AutoShape 29"/>
            <p:cNvCxnSpPr>
              <a:cxnSpLocks noChangeShapeType="1"/>
            </p:cNvCxnSpPr>
            <p:nvPr/>
          </p:nvCxnSpPr>
          <p:spPr bwMode="auto">
            <a:xfrm flipV="1">
              <a:off x="2475" y="11835"/>
              <a:ext cx="1830" cy="9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</p:cxnSp>
        <p:cxnSp>
          <p:nvCxnSpPr>
            <p:cNvPr id="8222" name="AutoShape 30"/>
            <p:cNvCxnSpPr>
              <a:cxnSpLocks noChangeShapeType="1"/>
            </p:cNvCxnSpPr>
            <p:nvPr/>
          </p:nvCxnSpPr>
          <p:spPr bwMode="auto">
            <a:xfrm>
              <a:off x="2475" y="12241"/>
              <a:ext cx="1740" cy="199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</p:cxnSp>
        <p:cxnSp>
          <p:nvCxnSpPr>
            <p:cNvPr id="8223" name="AutoShape 31"/>
            <p:cNvCxnSpPr>
              <a:cxnSpLocks noChangeShapeType="1"/>
            </p:cNvCxnSpPr>
            <p:nvPr/>
          </p:nvCxnSpPr>
          <p:spPr bwMode="auto">
            <a:xfrm flipH="1" flipV="1">
              <a:off x="8261" y="7066"/>
              <a:ext cx="1429" cy="1799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</p:cxnSp>
        <p:cxnSp>
          <p:nvCxnSpPr>
            <p:cNvPr id="8224" name="AutoShape 32"/>
            <p:cNvCxnSpPr>
              <a:cxnSpLocks noChangeShapeType="1"/>
            </p:cNvCxnSpPr>
            <p:nvPr/>
          </p:nvCxnSpPr>
          <p:spPr bwMode="auto">
            <a:xfrm>
              <a:off x="2160" y="4650"/>
              <a:ext cx="2434" cy="816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</p:cxnSp>
        <p:sp>
          <p:nvSpPr>
            <p:cNvPr id="8225" name="Oval 33"/>
            <p:cNvSpPr>
              <a:spLocks noChangeArrowheads="1"/>
            </p:cNvSpPr>
            <p:nvPr/>
          </p:nvSpPr>
          <p:spPr bwMode="auto">
            <a:xfrm>
              <a:off x="4215" y="3540"/>
              <a:ext cx="4125" cy="825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26" name="Oval 34"/>
            <p:cNvSpPr>
              <a:spLocks noChangeArrowheads="1"/>
            </p:cNvSpPr>
            <p:nvPr/>
          </p:nvSpPr>
          <p:spPr bwMode="auto">
            <a:xfrm>
              <a:off x="4215" y="13770"/>
              <a:ext cx="4125" cy="825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27" name="Oval 35"/>
            <p:cNvSpPr>
              <a:spLocks noChangeArrowheads="1"/>
            </p:cNvSpPr>
            <p:nvPr/>
          </p:nvSpPr>
          <p:spPr bwMode="auto">
            <a:xfrm>
              <a:off x="4215" y="4875"/>
              <a:ext cx="4125" cy="825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28" name="Oval 36"/>
            <p:cNvSpPr>
              <a:spLocks noChangeArrowheads="1"/>
            </p:cNvSpPr>
            <p:nvPr/>
          </p:nvSpPr>
          <p:spPr bwMode="auto">
            <a:xfrm>
              <a:off x="4215" y="6524"/>
              <a:ext cx="4125" cy="825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29" name="Oval 37"/>
            <p:cNvSpPr>
              <a:spLocks noChangeArrowheads="1"/>
            </p:cNvSpPr>
            <p:nvPr/>
          </p:nvSpPr>
          <p:spPr bwMode="auto">
            <a:xfrm>
              <a:off x="4215" y="8865"/>
              <a:ext cx="4125" cy="825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30" name="Oval 38"/>
            <p:cNvSpPr>
              <a:spLocks noChangeArrowheads="1"/>
            </p:cNvSpPr>
            <p:nvPr/>
          </p:nvSpPr>
          <p:spPr bwMode="auto">
            <a:xfrm>
              <a:off x="4215" y="10215"/>
              <a:ext cx="4125" cy="825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31" name="Oval 39"/>
            <p:cNvSpPr>
              <a:spLocks noChangeArrowheads="1"/>
            </p:cNvSpPr>
            <p:nvPr/>
          </p:nvSpPr>
          <p:spPr bwMode="auto">
            <a:xfrm>
              <a:off x="4215" y="12630"/>
              <a:ext cx="4125" cy="825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32" name="Text Box 40"/>
            <p:cNvSpPr txBox="1">
              <a:spLocks noChangeArrowheads="1"/>
            </p:cNvSpPr>
            <p:nvPr/>
          </p:nvSpPr>
          <p:spPr bwMode="auto">
            <a:xfrm>
              <a:off x="4594" y="3721"/>
              <a:ext cx="3262" cy="44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cs typeface="Arial" pitchFamily="34" charset="0"/>
                </a:rPr>
                <a:t>User Account Info Management</a:t>
              </a:r>
              <a:endPara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8233" name="Text Box 41"/>
            <p:cNvSpPr txBox="1">
              <a:spLocks noChangeArrowheads="1"/>
            </p:cNvSpPr>
            <p:nvPr/>
          </p:nvSpPr>
          <p:spPr bwMode="auto">
            <a:xfrm>
              <a:off x="5359" y="5130"/>
              <a:ext cx="1601" cy="44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cs typeface="Arial" pitchFamily="34" charset="0"/>
                </a:rPr>
                <a:t>Login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8234" name="Text Box 42"/>
            <p:cNvSpPr txBox="1">
              <a:spLocks noChangeArrowheads="1"/>
            </p:cNvSpPr>
            <p:nvPr/>
          </p:nvSpPr>
          <p:spPr bwMode="auto">
            <a:xfrm>
              <a:off x="4759" y="6721"/>
              <a:ext cx="2925" cy="44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cs typeface="Arial" pitchFamily="34" charset="0"/>
                </a:rPr>
                <a:t>Book Movie Ticket 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8235" name="Text Box 43"/>
            <p:cNvSpPr txBox="1">
              <a:spLocks noChangeArrowheads="1"/>
            </p:cNvSpPr>
            <p:nvPr/>
          </p:nvSpPr>
          <p:spPr bwMode="auto">
            <a:xfrm>
              <a:off x="4699" y="12811"/>
              <a:ext cx="3097" cy="44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cs typeface="Arial" pitchFamily="34" charset="0"/>
                </a:rPr>
                <a:t>Customer Info Management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8236" name="Text Box 44"/>
            <p:cNvSpPr txBox="1">
              <a:spLocks noChangeArrowheads="1"/>
            </p:cNvSpPr>
            <p:nvPr/>
          </p:nvSpPr>
          <p:spPr bwMode="auto">
            <a:xfrm>
              <a:off x="5134" y="10366"/>
              <a:ext cx="2032" cy="44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cs typeface="Arial" pitchFamily="34" charset="0"/>
                </a:rPr>
                <a:t>Report Generation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8237" name="Text Box 45"/>
            <p:cNvSpPr txBox="1">
              <a:spLocks noChangeArrowheads="1"/>
            </p:cNvSpPr>
            <p:nvPr/>
          </p:nvSpPr>
          <p:spPr bwMode="auto">
            <a:xfrm>
              <a:off x="4699" y="13966"/>
              <a:ext cx="3157" cy="44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cs typeface="Arial" pitchFamily="34" charset="0"/>
                </a:rPr>
                <a:t>Ticket Generation Management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8238" name="Text Box 46"/>
            <p:cNvSpPr txBox="1">
              <a:spLocks noChangeArrowheads="1"/>
            </p:cNvSpPr>
            <p:nvPr/>
          </p:nvSpPr>
          <p:spPr bwMode="auto">
            <a:xfrm>
              <a:off x="4474" y="9105"/>
              <a:ext cx="3712" cy="44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cs typeface="Arial" pitchFamily="34" charset="0"/>
                </a:rPr>
                <a:t>Movie and Theater Info Management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8239" name="AutoShape 47"/>
            <p:cNvCxnSpPr>
              <a:cxnSpLocks noChangeShapeType="1"/>
            </p:cNvCxnSpPr>
            <p:nvPr/>
          </p:nvCxnSpPr>
          <p:spPr bwMode="auto">
            <a:xfrm>
              <a:off x="2265" y="4650"/>
              <a:ext cx="2130" cy="5716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</p:cxnSp>
        <p:cxnSp>
          <p:nvCxnSpPr>
            <p:cNvPr id="8240" name="AutoShape 48"/>
            <p:cNvCxnSpPr>
              <a:cxnSpLocks noChangeShapeType="1"/>
            </p:cNvCxnSpPr>
            <p:nvPr/>
          </p:nvCxnSpPr>
          <p:spPr bwMode="auto">
            <a:xfrm flipH="1">
              <a:off x="8186" y="9990"/>
              <a:ext cx="1654" cy="414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</p:cxnSp>
        <p:sp>
          <p:nvSpPr>
            <p:cNvPr id="8241" name="Oval 49"/>
            <p:cNvSpPr>
              <a:spLocks noChangeArrowheads="1"/>
            </p:cNvSpPr>
            <p:nvPr/>
          </p:nvSpPr>
          <p:spPr bwMode="auto">
            <a:xfrm>
              <a:off x="4305" y="11340"/>
              <a:ext cx="4125" cy="825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242" name="Text Box 50"/>
            <p:cNvSpPr txBox="1">
              <a:spLocks noChangeArrowheads="1"/>
            </p:cNvSpPr>
            <p:nvPr/>
          </p:nvSpPr>
          <p:spPr bwMode="auto">
            <a:xfrm>
              <a:off x="4834" y="11476"/>
              <a:ext cx="3097" cy="44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cs typeface="Arial" pitchFamily="34" charset="0"/>
                </a:rPr>
                <a:t> Customer Info Entry</a:t>
              </a:r>
              <a:endPara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8243" name="AutoShape 51"/>
            <p:cNvCxnSpPr>
              <a:cxnSpLocks noChangeShapeType="1"/>
            </p:cNvCxnSpPr>
            <p:nvPr/>
          </p:nvCxnSpPr>
          <p:spPr bwMode="auto">
            <a:xfrm flipV="1">
              <a:off x="2340" y="7170"/>
              <a:ext cx="2359" cy="453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</p:cxnSp>
        <p:sp>
          <p:nvSpPr>
            <p:cNvPr id="8244" name="Oval 52"/>
            <p:cNvSpPr>
              <a:spLocks noChangeArrowheads="1"/>
            </p:cNvSpPr>
            <p:nvPr/>
          </p:nvSpPr>
          <p:spPr bwMode="auto">
            <a:xfrm>
              <a:off x="4136" y="7740"/>
              <a:ext cx="4125" cy="825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cxnSp>
          <p:nvCxnSpPr>
            <p:cNvPr id="8245" name="AutoShape 53"/>
            <p:cNvCxnSpPr>
              <a:cxnSpLocks noChangeShapeType="1"/>
            </p:cNvCxnSpPr>
            <p:nvPr/>
          </p:nvCxnSpPr>
          <p:spPr bwMode="auto">
            <a:xfrm flipV="1">
              <a:off x="2475" y="7635"/>
              <a:ext cx="2224" cy="420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</p:cxnSp>
        <p:sp>
          <p:nvSpPr>
            <p:cNvPr id="8246" name="Text Box 54"/>
            <p:cNvSpPr txBox="1">
              <a:spLocks noChangeArrowheads="1"/>
            </p:cNvSpPr>
            <p:nvPr/>
          </p:nvSpPr>
          <p:spPr bwMode="auto">
            <a:xfrm>
              <a:off x="4594" y="7876"/>
              <a:ext cx="3202" cy="449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FFFFFF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cs typeface="Arial" pitchFamily="34" charset="0"/>
                </a:rPr>
                <a:t>View Movie and Theater Info</a:t>
              </a:r>
              <a:endParaRPr kumimoji="0" 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8247" name="AutoShape 55"/>
            <p:cNvCxnSpPr>
              <a:cxnSpLocks noChangeShapeType="1"/>
            </p:cNvCxnSpPr>
            <p:nvPr/>
          </p:nvCxnSpPr>
          <p:spPr bwMode="auto">
            <a:xfrm>
              <a:off x="2580" y="4560"/>
              <a:ext cx="1725" cy="240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</p:cxnSp>
        <p:cxnSp>
          <p:nvCxnSpPr>
            <p:cNvPr id="8248" name="AutoShape 56"/>
            <p:cNvCxnSpPr>
              <a:cxnSpLocks noChangeShapeType="1"/>
            </p:cNvCxnSpPr>
            <p:nvPr/>
          </p:nvCxnSpPr>
          <p:spPr bwMode="auto">
            <a:xfrm>
              <a:off x="2340" y="4650"/>
              <a:ext cx="1875" cy="454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</p:cxnSp>
        <p:cxnSp>
          <p:nvCxnSpPr>
            <p:cNvPr id="8249" name="AutoShape 57"/>
            <p:cNvCxnSpPr>
              <a:cxnSpLocks noChangeShapeType="1"/>
            </p:cNvCxnSpPr>
            <p:nvPr/>
          </p:nvCxnSpPr>
          <p:spPr bwMode="auto">
            <a:xfrm>
              <a:off x="2457" y="4650"/>
              <a:ext cx="1848" cy="333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</p:cxnSp>
        <p:cxnSp>
          <p:nvCxnSpPr>
            <p:cNvPr id="8250" name="AutoShape 58"/>
            <p:cNvCxnSpPr>
              <a:cxnSpLocks noChangeShapeType="1"/>
            </p:cNvCxnSpPr>
            <p:nvPr/>
          </p:nvCxnSpPr>
          <p:spPr bwMode="auto">
            <a:xfrm flipH="1">
              <a:off x="8340" y="9105"/>
              <a:ext cx="1590" cy="19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med" len="med"/>
            </a:ln>
          </p:spPr>
        </p:cxn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25000" b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 rot="19986689">
            <a:off x="347006" y="2484957"/>
            <a:ext cx="8229600" cy="1143000"/>
          </a:xfr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en-US" sz="6600" b="1" dirty="0" smtClean="0">
                <a:solidFill>
                  <a:srgbClr val="FF0000"/>
                </a:solidFill>
                <a:latin typeface="Garamond" pitchFamily="18" charset="0"/>
              </a:rPr>
              <a:t>SCREENSHOTS</a:t>
            </a:r>
            <a:endParaRPr lang="en-US" sz="6600" b="1" dirty="0">
              <a:solidFill>
                <a:srgbClr val="FF0000"/>
              </a:solidFill>
              <a:latin typeface="Garamond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25000" b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18" name="Group 2"/>
          <p:cNvGrpSpPr>
            <a:grpSpLocks/>
          </p:cNvGrpSpPr>
          <p:nvPr/>
        </p:nvGrpSpPr>
        <p:grpSpPr bwMode="auto">
          <a:xfrm>
            <a:off x="304800" y="304800"/>
            <a:ext cx="8382000" cy="6172200"/>
            <a:chOff x="2220" y="1139"/>
            <a:chExt cx="9360" cy="6000"/>
          </a:xfrm>
        </p:grpSpPr>
        <p:pic>
          <p:nvPicPr>
            <p:cNvPr id="9219" name="Picture 3" descr="11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2220" y="1139"/>
              <a:ext cx="9360" cy="6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9220" name="Picture 4" descr="12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2355" y="3361"/>
              <a:ext cx="6390" cy="318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9221" name="Picture 5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9435" y="2896"/>
              <a:ext cx="1995" cy="39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9222" name="Picture 6" descr="new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2355" y="1281"/>
              <a:ext cx="9075" cy="17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25000" b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42" name="Group 2"/>
          <p:cNvGrpSpPr>
            <a:grpSpLocks/>
          </p:cNvGrpSpPr>
          <p:nvPr/>
        </p:nvGrpSpPr>
        <p:grpSpPr bwMode="auto">
          <a:xfrm>
            <a:off x="533400" y="457200"/>
            <a:ext cx="8077200" cy="6172200"/>
            <a:chOff x="1980" y="2791"/>
            <a:chExt cx="9360" cy="4050"/>
          </a:xfrm>
        </p:grpSpPr>
        <p:pic>
          <p:nvPicPr>
            <p:cNvPr id="10243" name="Picture 3" descr="2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980" y="2791"/>
              <a:ext cx="9360" cy="40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10244" name="Picture 4" descr="new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2115" y="2880"/>
              <a:ext cx="9075" cy="17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25000" b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533400" y="228601"/>
            <a:ext cx="8229599" cy="6324600"/>
            <a:chOff x="533400" y="228601"/>
            <a:chExt cx="8229599" cy="6324600"/>
          </a:xfrm>
        </p:grpSpPr>
        <p:grpSp>
          <p:nvGrpSpPr>
            <p:cNvPr id="11266" name="Group 2"/>
            <p:cNvGrpSpPr>
              <a:grpSpLocks/>
            </p:cNvGrpSpPr>
            <p:nvPr/>
          </p:nvGrpSpPr>
          <p:grpSpPr bwMode="auto">
            <a:xfrm>
              <a:off x="533400" y="228601"/>
              <a:ext cx="8229599" cy="6324600"/>
              <a:chOff x="2145" y="6166"/>
              <a:chExt cx="9360" cy="4485"/>
            </a:xfrm>
          </p:grpSpPr>
          <p:pic>
            <p:nvPicPr>
              <p:cNvPr id="11267" name="Picture 3"/>
              <p:cNvPicPr>
                <a:picLocks noChangeAspect="1" noChangeArrowheads="1"/>
              </p:cNvPicPr>
              <p:nvPr/>
            </p:nvPicPr>
            <p:blipFill>
              <a:blip r:embed="rId3"/>
              <a:srcRect/>
              <a:stretch>
                <a:fillRect/>
              </a:stretch>
            </p:blipFill>
            <p:spPr bwMode="auto">
              <a:xfrm>
                <a:off x="2145" y="6166"/>
                <a:ext cx="9360" cy="448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1268" name="Picture 4" descr="new"/>
              <p:cNvPicPr>
                <a:picLocks noChangeAspect="1" noChangeArrowheads="1"/>
              </p:cNvPicPr>
              <p:nvPr/>
            </p:nvPicPr>
            <p:blipFill>
              <a:blip r:embed="rId4"/>
              <a:srcRect/>
              <a:stretch>
                <a:fillRect/>
              </a:stretch>
            </p:blipFill>
            <p:spPr bwMode="auto">
              <a:xfrm>
                <a:off x="2265" y="6300"/>
                <a:ext cx="9150" cy="171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1269" name="Picture 5"/>
              <p:cNvPicPr>
                <a:picLocks noChangeAspect="1" noChangeArrowheads="1"/>
              </p:cNvPicPr>
              <p:nvPr/>
            </p:nvPicPr>
            <p:blipFill>
              <a:blip r:embed="rId5"/>
              <a:srcRect/>
              <a:stretch>
                <a:fillRect/>
              </a:stretch>
            </p:blipFill>
            <p:spPr bwMode="auto">
              <a:xfrm>
                <a:off x="6420" y="9315"/>
                <a:ext cx="1620" cy="18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1270" name="Picture 6"/>
              <p:cNvPicPr>
                <a:picLocks noChangeAspect="1" noChangeArrowheads="1"/>
              </p:cNvPicPr>
              <p:nvPr/>
            </p:nvPicPr>
            <p:blipFill>
              <a:blip r:embed="rId6"/>
              <a:srcRect/>
              <a:stretch>
                <a:fillRect/>
              </a:stretch>
            </p:blipFill>
            <p:spPr bwMode="auto">
              <a:xfrm>
                <a:off x="6420" y="9015"/>
                <a:ext cx="1620" cy="18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1271" name="Picture 7"/>
              <p:cNvPicPr>
                <a:picLocks noChangeAspect="1" noChangeArrowheads="1"/>
              </p:cNvPicPr>
              <p:nvPr/>
            </p:nvPicPr>
            <p:blipFill>
              <a:blip r:embed="rId6"/>
              <a:srcRect/>
              <a:stretch>
                <a:fillRect/>
              </a:stretch>
            </p:blipFill>
            <p:spPr bwMode="auto">
              <a:xfrm>
                <a:off x="6420" y="8715"/>
                <a:ext cx="1620" cy="18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1272" name="Picture 8"/>
              <p:cNvPicPr>
                <a:picLocks noChangeAspect="1" noChangeArrowheads="1"/>
              </p:cNvPicPr>
              <p:nvPr/>
            </p:nvPicPr>
            <p:blipFill>
              <a:blip r:embed="rId6"/>
              <a:srcRect/>
              <a:stretch>
                <a:fillRect/>
              </a:stretch>
            </p:blipFill>
            <p:spPr bwMode="auto">
              <a:xfrm>
                <a:off x="6420" y="8430"/>
                <a:ext cx="1620" cy="18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  <p:pic>
          <p:nvPicPr>
            <p:cNvPr id="2051" name="Picture 3"/>
            <p:cNvPicPr>
              <a:picLocks noChangeAspect="1" noChangeArrowheads="1"/>
            </p:cNvPicPr>
            <p:nvPr/>
          </p:nvPicPr>
          <p:blipFill>
            <a:blip r:embed="rId7"/>
            <a:srcRect l="45754" t="30468" r="49853" b="65625"/>
            <a:stretch>
              <a:fillRect/>
            </a:stretch>
          </p:blipFill>
          <p:spPr bwMode="auto">
            <a:xfrm>
              <a:off x="6096000" y="5410200"/>
              <a:ext cx="762000" cy="381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 t="-25000" b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533400" y="2133600"/>
            <a:ext cx="7772400" cy="1470025"/>
          </a:xfrm>
        </p:spPr>
        <p:txBody>
          <a:bodyPr>
            <a:normAutofit/>
          </a:bodyPr>
          <a:lstStyle/>
          <a:p>
            <a:r>
              <a:rPr lang="en-US" sz="6000" b="1" dirty="0" smtClean="0">
                <a:solidFill>
                  <a:schemeClr val="accent5">
                    <a:lumMod val="50000"/>
                  </a:schemeClr>
                </a:solidFill>
                <a:latin typeface="Garamond" pitchFamily="18" charset="0"/>
              </a:rPr>
              <a:t>THANK YOU!!!</a:t>
            </a:r>
            <a:endParaRPr lang="en-US" sz="6000" b="1" dirty="0">
              <a:solidFill>
                <a:schemeClr val="accent5">
                  <a:lumMod val="50000"/>
                </a:schemeClr>
              </a:solidFill>
              <a:latin typeface="Garamond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38400" y="4724400"/>
            <a:ext cx="6400800" cy="1752600"/>
          </a:xfrm>
        </p:spPr>
        <p:txBody>
          <a:bodyPr>
            <a:normAutofit fontScale="85000" lnSpcReduction="20000"/>
          </a:bodyPr>
          <a:lstStyle/>
          <a:p>
            <a:pPr algn="r"/>
            <a:r>
              <a:rPr lang="en-US" b="1" dirty="0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BY:</a:t>
            </a:r>
          </a:p>
          <a:p>
            <a:pPr algn="r"/>
            <a:r>
              <a:rPr lang="en-US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Sonali </a:t>
            </a:r>
          </a:p>
          <a:p>
            <a:pPr algn="r"/>
            <a:r>
              <a:rPr lang="en-US" b="1" dirty="0" smtClean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AU124060202002P</a:t>
            </a:r>
          </a:p>
          <a:p>
            <a:pPr algn="r"/>
            <a:r>
              <a:rPr lang="en-US" b="1" dirty="0" smtClean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BCA + MCA (INTEGRATED)</a:t>
            </a:r>
            <a:endParaRPr lang="en-US" b="1" dirty="0">
              <a:solidFill>
                <a:srgbClr val="0070C0"/>
              </a:solidFill>
              <a:latin typeface="Times New Roman" pitchFamily="18" charset="0"/>
              <a:cs typeface="Times New Roman" pitchFamily="18" charset="0"/>
            </a:endParaRPr>
          </a:p>
          <a:p>
            <a:pPr algn="r"/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4" name="Picture 3" descr="Pen-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8400" y="762000"/>
            <a:ext cx="2438400" cy="2438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Paper</Template>
  <TotalTime>210</TotalTime>
  <Words>320</Words>
  <Application>Microsoft Office PowerPoint</Application>
  <PresentationFormat>On-screen Show (4:3)</PresentationFormat>
  <Paragraphs>103</Paragraphs>
  <Slides>19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Slide 1</vt:lpstr>
      <vt:lpstr>INTRODUCTION</vt:lpstr>
      <vt:lpstr>BENEFITS</vt:lpstr>
      <vt:lpstr>CONTEXT DIAGRAM</vt:lpstr>
      <vt:lpstr>Data Flow Diagram Level I</vt:lpstr>
      <vt:lpstr> </vt:lpstr>
      <vt:lpstr>Data Flow Diagram Level II</vt:lpstr>
      <vt:lpstr>Movie and Theater Management</vt:lpstr>
      <vt:lpstr>Login</vt:lpstr>
      <vt:lpstr>User Account Management</vt:lpstr>
      <vt:lpstr>Ticket Management</vt:lpstr>
      <vt:lpstr>Entity Relationship Diagram</vt:lpstr>
      <vt:lpstr>Use Case Diagram</vt:lpstr>
      <vt:lpstr> </vt:lpstr>
      <vt:lpstr>SCREENSHOTS</vt:lpstr>
      <vt:lpstr>Slide 16</vt:lpstr>
      <vt:lpstr>Slide 17</vt:lpstr>
      <vt:lpstr>Slide 18</vt:lpstr>
      <vt:lpstr>THANK YOU!!!</vt:lpstr>
    </vt:vector>
  </TitlesOfParts>
  <Company>aa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good</dc:creator>
  <cp:lastModifiedBy>good</cp:lastModifiedBy>
  <cp:revision>166</cp:revision>
  <dcterms:created xsi:type="dcterms:W3CDTF">2014-06-05T18:53:16Z</dcterms:created>
  <dcterms:modified xsi:type="dcterms:W3CDTF">2014-11-10T16:18:57Z</dcterms:modified>
</cp:coreProperties>
</file>